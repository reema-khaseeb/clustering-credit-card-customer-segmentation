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383" r:id="rId5"/>
    <p:sldId id="389" r:id="rId6"/>
    <p:sldId id="379" r:id="rId7"/>
    <p:sldId id="385" r:id="rId8"/>
    <p:sldId id="387" r:id="rId9"/>
    <p:sldId id="388" r:id="rId10"/>
    <p:sldId id="386" r:id="rId11"/>
    <p:sldId id="392" r:id="rId12"/>
    <p:sldId id="391" r:id="rId13"/>
    <p:sldId id="393" r:id="rId14"/>
    <p:sldId id="394" r:id="rId15"/>
    <p:sldId id="395" r:id="rId16"/>
    <p:sldId id="396" r:id="rId17"/>
    <p:sldId id="397" r:id="rId18"/>
    <p:sldId id="399" r:id="rId19"/>
    <p:sldId id="398" r:id="rId20"/>
    <p:sldId id="400" r:id="rId21"/>
    <p:sldId id="401" r:id="rId22"/>
    <p:sldId id="402" r:id="rId23"/>
  </p:sldIdLst>
  <p:sldSz cx="12192000" cy="6858000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BB928E10-A69C-42F6-8B07-A2FEAC067766}">
          <p14:sldIdLst>
            <p14:sldId id="383"/>
            <p14:sldId id="389"/>
          </p14:sldIdLst>
        </p14:section>
        <p14:section name="SLIDE STARTERS" id="{ACC24B29-0CC7-491A-A98A-CF7CBDBE501E}">
          <p14:sldIdLst>
            <p14:sldId id="379"/>
            <p14:sldId id="385"/>
            <p14:sldId id="387"/>
            <p14:sldId id="388"/>
            <p14:sldId id="386"/>
            <p14:sldId id="392"/>
            <p14:sldId id="391"/>
            <p14:sldId id="393"/>
            <p14:sldId id="394"/>
            <p14:sldId id="395"/>
            <p14:sldId id="396"/>
            <p14:sldId id="397"/>
            <p14:sldId id="399"/>
            <p14:sldId id="398"/>
            <p14:sldId id="400"/>
            <p14:sldId id="401"/>
            <p14:sldId id="40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DC5924"/>
    <a:srgbClr val="B7472A"/>
    <a:srgbClr val="000000"/>
    <a:srgbClr val="FFFFFF"/>
    <a:srgbClr val="75D1FF"/>
    <a:srgbClr val="11161C"/>
    <a:srgbClr val="7F7F7F"/>
    <a:srgbClr val="F2F2F2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4972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outlineViewPr>
    <p:cViewPr>
      <p:scale>
        <a:sx n="33" d="100"/>
        <a:sy n="33" d="100"/>
      </p:scale>
      <p:origin x="0" y="-11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-3162"/>
    </p:cViewPr>
  </p:sorterViewPr>
  <p:notesViewPr>
    <p:cSldViewPr snapToGrid="0">
      <p:cViewPr>
        <p:scale>
          <a:sx n="66" d="100"/>
          <a:sy n="66" d="100"/>
        </p:scale>
        <p:origin x="2539" y="2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CCA049B-3A46-4BDA-A8F5-2925B00FE570}" type="datetimeFigureOut">
              <a:rPr lang="en-US" smtClean="0"/>
              <a:t>3/4/2023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DBAA5490-FD59-4087-AC7E-016E8A4124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092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4C46CEC-428A-4DD0-A7C7-21AF8DE33E93}" type="datetimeFigureOut">
              <a:rPr lang="en-US" smtClean="0"/>
              <a:t>3/4/2023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CBCEA92-F142-4D57-B507-37BDAF447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2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use this title animation slide with a new image simply 1) move the top semi-transparent shape</a:t>
            </a:r>
            <a:r>
              <a:rPr lang="en-US" baseline="0" dirty="0"/>
              <a:t> </a:t>
            </a:r>
            <a:r>
              <a:rPr lang="en-US" dirty="0"/>
              <a:t>to the side, 2) delete placeholder image,</a:t>
            </a:r>
            <a:r>
              <a:rPr lang="en-US" baseline="0" dirty="0"/>
              <a:t> </a:t>
            </a:r>
            <a:br>
              <a:rPr lang="en-US" baseline="0" dirty="0"/>
            </a:br>
            <a:r>
              <a:rPr lang="en-US" baseline="0" dirty="0"/>
              <a:t>3) click on the picture icon to add a new picture, 4) </a:t>
            </a:r>
            <a:r>
              <a:rPr lang="en-US" dirty="0"/>
              <a:t>Move semi-transparent shape back to original position, 5) Update text on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3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EA92-F142-4D57-B507-37BDAF44710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46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hyperlink" Target="http://www.nealanalytics.com/neal-creative/templates/" TargetMode="Externa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alanalytics.com/neal-creative/templates/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alanalytics.com/templates/" TargetMode="External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nealanalytics.com/neal-creative/templates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TITLE OR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01043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/>
          <p:cNvSpPr/>
          <p:nvPr userDrawn="1"/>
        </p:nvSpPr>
        <p:spPr>
          <a:xfrm>
            <a:off x="3803737" y="-65233"/>
            <a:ext cx="4584526" cy="2297766"/>
          </a:xfrm>
          <a:custGeom>
            <a:avLst/>
            <a:gdLst>
              <a:gd name="connsiteX0" fmla="*/ 278 w 4584526"/>
              <a:gd name="connsiteY0" fmla="*/ 0 h 2297766"/>
              <a:gd name="connsiteX1" fmla="*/ 4584248 w 4584526"/>
              <a:gd name="connsiteY1" fmla="*/ 0 h 2297766"/>
              <a:gd name="connsiteX2" fmla="*/ 4584526 w 4584526"/>
              <a:gd name="connsiteY2" fmla="*/ 5503 h 2297766"/>
              <a:gd name="connsiteX3" fmla="*/ 2292263 w 4584526"/>
              <a:gd name="connsiteY3" fmla="*/ 2297766 h 2297766"/>
              <a:gd name="connsiteX4" fmla="*/ 0 w 4584526"/>
              <a:gd name="connsiteY4" fmla="*/ 5503 h 229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526" h="2297766">
                <a:moveTo>
                  <a:pt x="278" y="0"/>
                </a:moveTo>
                <a:lnTo>
                  <a:pt x="4584248" y="0"/>
                </a:lnTo>
                <a:lnTo>
                  <a:pt x="4584526" y="5503"/>
                </a:lnTo>
                <a:cubicBezTo>
                  <a:pt x="4584526" y="1271485"/>
                  <a:pt x="3558245" y="2297766"/>
                  <a:pt x="2292263" y="2297766"/>
                </a:cubicBezTo>
                <a:cubicBezTo>
                  <a:pt x="1026281" y="2297766"/>
                  <a:pt x="0" y="1271485"/>
                  <a:pt x="0" y="5503"/>
                </a:cubicBez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02995" y="3383280"/>
            <a:ext cx="11660405" cy="625641"/>
          </a:xfrm>
          <a:prstGeom prst="rect">
            <a:avLst/>
          </a:prstGeom>
        </p:spPr>
        <p:txBody>
          <a:bodyPr vert="horz" lIns="457200" tIns="45720" rIns="45720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0" kern="1200" spc="40" baseline="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923323" y="186061"/>
            <a:ext cx="4376615" cy="627351"/>
          </a:xfrm>
        </p:spPr>
        <p:txBody>
          <a:bodyPr/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14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Section Title Here</a:t>
            </a:r>
          </a:p>
          <a:p>
            <a:pPr lvl="1"/>
            <a:r>
              <a:rPr lang="en-US" dirty="0"/>
              <a:t>1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1" y="4206240"/>
            <a:ext cx="11658600" cy="424732"/>
          </a:xfrm>
        </p:spPr>
        <p:txBody>
          <a:bodyPr lIns="457200" rIns="45720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Add a short summary sentence here about title/statement above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5737094" y="1007413"/>
            <a:ext cx="792205" cy="1200329"/>
          </a:xfrm>
        </p:spPr>
        <p:txBody>
          <a:bodyPr wrap="none" anchor="ctr"/>
          <a:lstStyle>
            <a:lvl1pPr algn="ctr">
              <a:defRPr kumimoji="0" lang="en-US" sz="8000" b="1" i="0" u="none" strike="noStrike" kern="1200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4187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NUT BASE 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 userDrawn="1"/>
        </p:nvSpPr>
        <p:spPr>
          <a:xfrm>
            <a:off x="2861702" y="157952"/>
            <a:ext cx="6483179" cy="64831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8777" y="2935629"/>
            <a:ext cx="5208335" cy="92782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5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dots"/>
          <p:cNvSpPr>
            <a:spLocks noChangeAspect="1"/>
          </p:cNvSpPr>
          <p:nvPr userDrawn="1"/>
        </p:nvSpPr>
        <p:spPr>
          <a:xfrm>
            <a:off x="3448777" y="745024"/>
            <a:ext cx="5309024" cy="5309025"/>
          </a:xfrm>
          <a:prstGeom prst="ellipse">
            <a:avLst/>
          </a:prstGeom>
          <a:noFill/>
          <a:ln w="184150" cap="rnd" cmpd="sng" algn="ctr">
            <a:solidFill>
              <a:schemeClr val="accent4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76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dark option FLUSH LEF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 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326628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dark option CENTERED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algn="ctr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algn="ctr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303163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 dark option FLUSH LE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marL="231775" indent="-231775" algn="l">
              <a:spcBef>
                <a:spcPts val="0"/>
              </a:spcBef>
              <a:defRPr sz="3600" b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</a:defRPr>
            </a:lvl1pPr>
            <a:lvl2pPr marL="109538" indent="0" algn="l">
              <a:spcBef>
                <a:spcPts val="0"/>
              </a:spcBef>
              <a:defRPr sz="36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 BOLD</a:t>
            </a:r>
          </a:p>
        </p:txBody>
      </p:sp>
      <p:sp>
        <p:nvSpPr>
          <p:cNvPr id="7" name="Freeform: Shape 6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865562" y="5276808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 b="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</p:spTree>
    <p:extLst>
      <p:ext uri="{BB962C8B-B14F-4D97-AF65-F5344CB8AC3E}">
        <p14:creationId xmlns:p14="http://schemas.microsoft.com/office/powerpoint/2010/main" val="207573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light option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5648960" y="419100"/>
            <a:ext cx="8940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accent4"/>
                </a:solidFill>
                <a:latin typeface="Arial Black" panose="020B0A04020102020204" pitchFamily="34" charset="0"/>
              </a:rPr>
              <a:t>“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408362" y="5335071"/>
            <a:ext cx="8097838" cy="369332"/>
          </a:xfrm>
        </p:spPr>
        <p:txBody>
          <a:bodyPr/>
          <a:lstStyle>
            <a:lvl1pPr algn="r">
              <a:spcBef>
                <a:spcPts val="0"/>
              </a:spcBef>
              <a:defRPr sz="2000">
                <a:solidFill>
                  <a:schemeClr val="tx2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—Name and Company/Source goes here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884235"/>
            <a:ext cx="11658600" cy="1089529"/>
          </a:xfrm>
        </p:spPr>
        <p:txBody>
          <a:bodyPr anchor="ctr"/>
          <a:lstStyle>
            <a:lvl1pPr algn="ctr">
              <a:spcBef>
                <a:spcPts val="0"/>
              </a:spcBef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</a:lstStyle>
          <a:p>
            <a:pPr lvl="0"/>
            <a:r>
              <a:rPr lang="en-US" dirty="0"/>
              <a:t>“QUOTATION.”</a:t>
            </a:r>
          </a:p>
          <a:p>
            <a:pPr lvl="1"/>
            <a:r>
              <a:rPr lang="en-US" dirty="0"/>
              <a:t>BOLD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2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rk Callout with small Non-bullet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597273"/>
            <a:ext cx="4868985" cy="1643527"/>
          </a:xfrm>
        </p:spPr>
        <p:txBody>
          <a:bodyPr wrap="square" lIns="91440" rIns="9144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357295"/>
          </a:xfrm>
          <a:prstGeom prst="rect">
            <a:avLst/>
          </a:prstGeom>
        </p:spPr>
        <p:txBody>
          <a:bodyPr lIns="146304" tIns="420624" rIns="146304" anchor="t" anchorCtr="0"/>
          <a:lstStyle>
            <a:lvl1pPr algn="ctr"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0" y="2599498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0" y="4779896"/>
            <a:ext cx="5671764" cy="1843069"/>
          </a:xfrm>
        </p:spPr>
        <p:txBody>
          <a:bodyPr/>
          <a:lstStyle>
            <a:lvl1pPr marL="0" indent="0" algn="l">
              <a:buNone/>
              <a:defRPr sz="22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1pPr>
            <a:lvl2pPr marL="0" indent="0" algn="l">
              <a:buNone/>
              <a:defRPr sz="20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2pPr>
            <a:lvl3pPr marL="0" indent="0" algn="l">
              <a:buNone/>
              <a:defRPr sz="18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3pPr>
            <a:lvl4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4pPr>
            <a:lvl5pPr marL="0" indent="0" algn="l">
              <a:buNone/>
              <a:defRPr sz="1600">
                <a:gradFill>
                  <a:gsLst>
                    <a:gs pos="15000">
                      <a:schemeClr val="bg1"/>
                    </a:gs>
                    <a:gs pos="47000">
                      <a:schemeClr val="bg1"/>
                    </a:gs>
                  </a:gsLst>
                  <a:lin ang="5400000" scaled="1"/>
                </a:gra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20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2472751"/>
            <a:ext cx="4566001" cy="1643527"/>
          </a:xfrm>
        </p:spPr>
        <p:txBody>
          <a:bodyPr wrap="square" lIns="91440" rIns="9144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2800" b="0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0" y="419100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0600" y="6484937"/>
            <a:ext cx="42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926336"/>
          </a:xfrm>
          <a:prstGeom prst="rect">
            <a:avLst/>
          </a:prstGeom>
        </p:spPr>
        <p:txBody>
          <a:bodyPr lIns="146304" tIns="420624" rIns="146304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0" y="2697329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0" y="4975558"/>
            <a:ext cx="5671764" cy="1705723"/>
          </a:xfrm>
        </p:spPr>
        <p:txBody>
          <a:bodyPr/>
          <a:lstStyle>
            <a:lvl1pPr marL="0" indent="0" algn="l">
              <a:buNone/>
              <a:defRPr sz="2200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7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0.03178 0.00047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>
        <p:tmplLst>
          <p:tmpl lvl="1">
            <p:tnLst>
              <p:par>
                <p:cTn presetID="63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4.375E-6 -4.07407E-6 L 0.03178 0.00047 " pathEditMode="relative" rAng="0" ptsTypes="AA">
                      <p:cBhvr>
                        <p:cTn dur="75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1589" y="2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 userDrawn="1"/>
        </p:nvSpPr>
        <p:spPr>
          <a:xfrm>
            <a:off x="129521" y="0"/>
            <a:ext cx="4741280" cy="2353474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31800"/>
            <a:ext cx="5371038" cy="1830245"/>
          </a:xfrm>
        </p:spPr>
        <p:txBody>
          <a:bodyPr wrap="square" lIns="146304" rIns="146304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93687" y="3436331"/>
            <a:ext cx="2286000" cy="1802032"/>
          </a:xfrm>
        </p:spPr>
        <p:txBody>
          <a:bodyPr lIns="182880" tIns="146304" rIns="182880"/>
          <a:lstStyle>
            <a:lvl1pPr marL="0" indent="0" algn="l">
              <a:buNone/>
              <a:defRPr sz="1600" b="1">
                <a:latin typeface="+mn-lt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>
                <a:latin typeface="+mn-lt"/>
              </a:defRPr>
            </a:lvl3pPr>
            <a:lvl4pPr marL="0" indent="0" algn="l">
              <a:buNone/>
              <a:defRPr sz="1100">
                <a:latin typeface="+mn-lt"/>
              </a:defRPr>
            </a:lvl4pPr>
            <a:lvl5pPr marL="0" indent="0" algn="l">
              <a:buNone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555244" y="0"/>
            <a:ext cx="4083304" cy="1926336"/>
          </a:xfrm>
          <a:prstGeom prst="rect">
            <a:avLst/>
          </a:prstGeom>
        </p:spPr>
        <p:txBody>
          <a:bodyPr lIns="146304" tIns="420624" rIns="146304" anchor="t" anchorCtr="0"/>
          <a:lstStyle>
            <a:lvl1pPr>
              <a:defRPr lang="en-US" sz="3200" b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66101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02834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sz="14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395677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9763006" y="3436331"/>
            <a:ext cx="2286000" cy="1802032"/>
          </a:xfrm>
        </p:spPr>
        <p:txBody>
          <a:bodyPr lIns="182880" tIns="146304" rIns="91440"/>
          <a:lstStyle>
            <a:lvl1pPr marL="0" indent="0" algn="l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buNone/>
              <a:defRPr sz="1200" b="0">
                <a:latin typeface="+mn-lt"/>
              </a:defRPr>
            </a:lvl3pPr>
            <a:lvl4pPr marL="0" indent="0" algn="l">
              <a:buNone/>
              <a:defRPr sz="1100" b="0">
                <a:latin typeface="+mn-lt"/>
              </a:defRPr>
            </a:lvl4pPr>
            <a:lvl5pPr marL="0" indent="0" algn="l">
              <a:buNone/>
              <a:defRPr sz="1100" b="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80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 5 Pillars smal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598127"/>
            <a:ext cx="3714704" cy="2524794"/>
          </a:xfrm>
        </p:spPr>
        <p:txBody>
          <a:bodyPr lIns="91440" rIns="91440"/>
          <a:lstStyle>
            <a:lvl1pPr algn="ctr">
              <a:spcAft>
                <a:spcPts val="3000"/>
              </a:spcAft>
              <a:defRPr sz="24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4168631" y="2598127"/>
            <a:ext cx="3840480" cy="2524794"/>
          </a:xfrm>
        </p:spPr>
        <p:txBody>
          <a:bodyPr lIns="91440" rIns="9144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5"/>
          </p:nvPr>
        </p:nvSpPr>
        <p:spPr>
          <a:xfrm>
            <a:off x="8158238" y="2598127"/>
            <a:ext cx="3773077" cy="2524794"/>
          </a:xfrm>
        </p:spPr>
        <p:txBody>
          <a:bodyPr lIns="91440" rIns="91440"/>
          <a:lstStyle>
            <a:lvl1pPr algn="ctr">
              <a:defRPr lang="en-US" sz="2400" kern="1200" dirty="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3000"/>
              </a:spcAft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reeform: Shape 10"/>
          <p:cNvSpPr/>
          <p:nvPr userDrawn="1"/>
        </p:nvSpPr>
        <p:spPr>
          <a:xfrm>
            <a:off x="129521" y="0"/>
            <a:ext cx="2749481" cy="1364786"/>
          </a:xfrm>
          <a:custGeom>
            <a:avLst/>
            <a:gdLst>
              <a:gd name="connsiteX0" fmla="*/ 0 w 4741280"/>
              <a:gd name="connsiteY0" fmla="*/ 0 h 2353474"/>
              <a:gd name="connsiteX1" fmla="*/ 4741280 w 4741280"/>
              <a:gd name="connsiteY1" fmla="*/ 0 h 2353474"/>
              <a:gd name="connsiteX2" fmla="*/ 4729949 w 4741280"/>
              <a:gd name="connsiteY2" fmla="*/ 224399 h 2353474"/>
              <a:gd name="connsiteX3" fmla="*/ 2370640 w 4741280"/>
              <a:gd name="connsiteY3" fmla="*/ 2353474 h 2353474"/>
              <a:gd name="connsiteX4" fmla="*/ 11331 w 4741280"/>
              <a:gd name="connsiteY4" fmla="*/ 224399 h 2353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1280" h="2353474">
                <a:moveTo>
                  <a:pt x="0" y="0"/>
                </a:moveTo>
                <a:lnTo>
                  <a:pt x="4741280" y="0"/>
                </a:lnTo>
                <a:lnTo>
                  <a:pt x="4729949" y="224399"/>
                </a:lnTo>
                <a:cubicBezTo>
                  <a:pt x="4608502" y="1420269"/>
                  <a:pt x="3598552" y="2353474"/>
                  <a:pt x="2370640" y="2353474"/>
                </a:cubicBezTo>
                <a:cubicBezTo>
                  <a:pt x="1142728" y="2353474"/>
                  <a:pt x="132779" y="1420269"/>
                  <a:pt x="11331" y="22439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322" y="339408"/>
            <a:ext cx="2375877" cy="535531"/>
          </a:xfrm>
        </p:spPr>
        <p:txBody>
          <a:bodyPr/>
          <a:lstStyle>
            <a:lvl1pPr algn="ctr"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2879003" y="419100"/>
            <a:ext cx="9084398" cy="1370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65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 5 Pillars smal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58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2483635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5"/>
          </p:nvPr>
        </p:nvSpPr>
        <p:spPr>
          <a:xfrm>
            <a:off x="4898612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7313589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/>
          </p:nvPr>
        </p:nvSpPr>
        <p:spPr>
          <a:xfrm>
            <a:off x="9728566" y="3493674"/>
            <a:ext cx="2377440" cy="2226763"/>
          </a:xfrm>
        </p:spPr>
        <p:txBody>
          <a:bodyPr lIns="146304" rIns="146304"/>
          <a:lstStyle>
            <a:lvl1pPr algn="ctr">
              <a:defRPr sz="2200">
                <a:gradFill>
                  <a:gsLst>
                    <a:gs pos="15000">
                      <a:schemeClr val="tx2"/>
                    </a:gs>
                    <a:gs pos="47000">
                      <a:schemeClr val="tx2"/>
                    </a:gs>
                  </a:gsLst>
                  <a:lin ang="5400000" scaled="1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97258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712235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7542189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9957166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5127212" y="3382066"/>
            <a:ext cx="1920240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70361"/>
            <a:ext cx="12192000" cy="535531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2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68658" y="2577396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9" hasCustomPrompt="1"/>
          </p:nvPr>
        </p:nvSpPr>
        <p:spPr>
          <a:xfrm>
            <a:off x="2483635" y="2577396"/>
            <a:ext cx="2377440" cy="840230"/>
          </a:xfrm>
        </p:spPr>
        <p:txBody>
          <a:bodyPr lIns="146304" rIns="146304"/>
          <a:lstStyle>
            <a:lvl1pPr algn="ctr">
              <a:defRPr lang="en-US" sz="5400" b="1" kern="12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0" hasCustomPrompt="1"/>
          </p:nvPr>
        </p:nvSpPr>
        <p:spPr>
          <a:xfrm>
            <a:off x="4898612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1" hasCustomPrompt="1"/>
          </p:nvPr>
        </p:nvSpPr>
        <p:spPr>
          <a:xfrm>
            <a:off x="7313589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22" hasCustomPrompt="1"/>
          </p:nvPr>
        </p:nvSpPr>
        <p:spPr>
          <a:xfrm>
            <a:off x="9728566" y="2577396"/>
            <a:ext cx="2377440" cy="840230"/>
          </a:xfrm>
        </p:spPr>
        <p:txBody>
          <a:bodyPr vert="horz" wrap="square" lIns="146304" tIns="45720" rIns="146304" bIns="45720" rtlCol="0">
            <a:spAutoFit/>
          </a:bodyPr>
          <a:lstStyle>
            <a:lvl1pPr algn="ctr">
              <a:defRPr lang="en-US" sz="54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 algn="ctr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24911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 p14:presetBounceEnd="32000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 p14:bounceEnd="32000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" presetClass="entr" presetSubtype="4" decel="10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7" grpId="0" uiExpand="1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9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0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1" grpId="0">
            <p:tmplLst>
              <p:tmpl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7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8" grpId="0" uiExpand="1" build="p">
            <p:tmplLst>
              <p:tmpl lvl="1"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2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3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4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  <p:tmpl lvl="5">
                <p:tnLst>
                  <p:par>
                    <p:cTn presetID="2" presetClass="entr" presetSubtype="4" decel="10000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1+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19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0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  <p:bldP spid="21" grpId="0">
            <p:tmplLst>
              <p:tmpl>
                <p:tnLst>
                  <p:par>
                    <p:cTn presetID="2" presetClass="entr" presetSubtype="1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ppt_x</p:attrName>
                            </p:attrNameLst>
                          </p:cBhvr>
                          <p:tavLst>
                            <p:tav tm="0">
                              <p:val>
                                <p:strVal val="#ppt_x"/>
                              </p:val>
                            </p:tav>
                            <p:tav tm="100000">
                              <p:val>
                                <p:strVal val="#ppt_x"/>
                              </p:val>
                            </p:tav>
                          </p:tavLst>
                        </p:anim>
                        <p:anim calcmode="lin" valueType="num">
                          <p:cBhvr additive="base">
                            <p:cTn dur="75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0-#ppt_h/2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tnLst>
              </p:tmpl>
            </p:tmplLst>
          </p:bldP>
        </p:bldLst>
      </p:timing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 dirty="0"/>
              <a:t>Click icon to add pictures or go online at…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8050"/>
            <a:ext cx="6129304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096000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193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37561" y="6484937"/>
            <a:ext cx="387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5AE1514C-5E56-4738-A1FF-4B1CFD2A3E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9000"/>
            <a:ext cx="6096000" cy="2594043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096000" cy="548957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Slide Number Placeholder 7"/>
          <p:cNvSpPr txBox="1">
            <a:spLocks/>
          </p:cNvSpPr>
          <p:nvPr userDrawn="1"/>
        </p:nvSpPr>
        <p:spPr>
          <a:xfrm>
            <a:off x="10343911" y="6498718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97E989-D798-4C62-8E93-3D2D613C248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57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129304" y="0"/>
            <a:ext cx="6062696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3600" b="1" cap="none" baseline="0">
                <a:solidFill>
                  <a:srgbClr val="FFC000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3429000"/>
            <a:ext cx="6129304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1554163"/>
            <a:ext cx="612930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233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4443" y="3425619"/>
            <a:ext cx="6097555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094443" y="1554163"/>
            <a:ext cx="6097556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0" y="0"/>
            <a:ext cx="6094444" cy="6856100"/>
          </a:xfrm>
          <a:blipFill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80534" y="3429000"/>
            <a:ext cx="6011466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180534" y="1554163"/>
            <a:ext cx="5791200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algn="ctr"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0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38266" y="3457545"/>
            <a:ext cx="6053733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solidFill>
                  <a:schemeClr val="tx2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138267" y="1554164"/>
            <a:ext cx="587573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/>
              <a:t>50/50 photo layout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884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568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6000" y="2356398"/>
            <a:ext cx="6096000" cy="2145203"/>
          </a:xfrm>
        </p:spPr>
        <p:txBody>
          <a:bodyPr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ts val="2400"/>
              </a:spcBef>
              <a:spcAft>
                <a:spcPts val="6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spcBef>
                <a:spcPts val="0"/>
              </a:spcBef>
              <a:spcAft>
                <a:spcPts val="600"/>
              </a:spcAft>
              <a:defRPr sz="2800"/>
            </a:lvl2pPr>
            <a:lvl3pPr algn="ctr">
              <a:spcBef>
                <a:spcPts val="0"/>
              </a:spcBef>
              <a:spcAft>
                <a:spcPts val="600"/>
              </a:spcAft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spcBef>
                <a:spcPts val="0"/>
              </a:spcBef>
              <a:spcAft>
                <a:spcPts val="600"/>
              </a:spcAft>
              <a:defRPr sz="2000" b="1"/>
            </a:lvl4pPr>
            <a:lvl5pPr algn="ctr"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054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0413" cy="6858000"/>
          </a:xfrm>
          <a:blipFill>
            <a:blip r:embed="rId2"/>
            <a:stretch>
              <a:fillRect/>
            </a:stretch>
          </a:blipFill>
        </p:spPr>
        <p:txBody>
          <a:bodyPr anchor="ctr" anchorCtr="0">
            <a:noAutofit/>
          </a:bodyPr>
          <a:lstStyle>
            <a:lvl1pPr algn="r">
              <a:defRPr baseline="0"/>
            </a:lvl1pPr>
          </a:lstStyle>
          <a:p>
            <a:r>
              <a:rPr lang="en-US" dirty="0"/>
              <a:t>Full Bleed Picture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8" hasCustomPrompt="1"/>
          </p:nvPr>
        </p:nvSpPr>
        <p:spPr>
          <a:xfrm>
            <a:off x="1875949" y="419100"/>
            <a:ext cx="2377440" cy="840230"/>
          </a:xfrm>
        </p:spPr>
        <p:txBody>
          <a:bodyPr lIns="146304" rIns="146304"/>
          <a:lstStyle>
            <a:lvl1pPr marL="0" algn="ctr" defTabSz="914400" rtl="0" eaLnBrk="1" latinLnBrk="0" hangingPunct="1">
              <a:defRPr lang="en-US" sz="540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800"/>
            </a:lvl3pPr>
            <a:lvl4pPr algn="ctr">
              <a:defRPr sz="1800">
                <a:latin typeface="+mn-lt"/>
              </a:defRPr>
            </a:lvl4pPr>
            <a:lvl5pPr algn="ctr"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04800" y="3429000"/>
            <a:ext cx="5960269" cy="2754087"/>
          </a:xfrm>
        </p:spPr>
        <p:txBody>
          <a:bodyPr anchor="t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3000"/>
              </a:spcAft>
              <a:buNone/>
              <a:defRPr lang="en-US" sz="36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800"/>
            </a:lvl2pPr>
            <a:lvl3pPr algn="ctr">
              <a:defRPr lang="en-US" sz="2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>
              <a:defRPr sz="2000" b="1"/>
            </a:lvl4pPr>
            <a:lvl5pPr algn="ctr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554164"/>
            <a:ext cx="5875734" cy="535531"/>
          </a:xfrm>
        </p:spPr>
        <p:txBody>
          <a:bodyPr/>
          <a:lstStyle>
            <a:lvl1pPr algn="ctr">
              <a:defRPr sz="3600" b="0">
                <a:latin typeface="+mj-lt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3200" b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dirty="0"/>
              <a:t>Headline</a:t>
            </a:r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4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53316" y="3503950"/>
            <a:ext cx="5671764" cy="1705723"/>
          </a:xfrm>
        </p:spPr>
        <p:txBody>
          <a:bodyPr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anchor="ctr" anchorCtr="0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98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lIns="91440">
            <a:noAutofit/>
          </a:bodyPr>
          <a:lstStyle>
            <a:lvl1pPr algn="ctr">
              <a:defRPr/>
            </a:lvl1pPr>
          </a:lstStyle>
          <a:p>
            <a:r>
              <a:rPr lang="en-US" baseline="0"/>
              <a:t>Click icon to add picture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6652" y="2567613"/>
            <a:ext cx="8804365" cy="1403495"/>
          </a:xfrm>
          <a:prstGeom prst="rect">
            <a:avLst/>
          </a:prstGeom>
        </p:spPr>
        <p:txBody>
          <a:bodyPr/>
          <a:lstStyle>
            <a:lvl1pPr algn="l">
              <a:defRPr lang="en-US" sz="8800" b="1" i="0" kern="1200" spc="1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81150" y="3971108"/>
            <a:ext cx="9461500" cy="757130"/>
          </a:xfrm>
        </p:spPr>
        <p:txBody>
          <a:bodyPr/>
          <a:lstStyle>
            <a:lvl1pPr algn="l">
              <a:defRPr lang="en-US" sz="4800" b="1" i="0" kern="1200" spc="300" dirty="0" smtClean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073567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066954" cy="6858000"/>
          </a:xfrm>
        </p:spPr>
        <p:txBody>
          <a:bodyPr anchor="ctr"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95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48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BDA58-9C93-4222-A4EC-4BEB46CE06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164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47687" y="6465381"/>
            <a:ext cx="431425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Box 5">
            <a:hlinkClick r:id="rId3"/>
            <a:extLst>
              <a:ext uri="{FF2B5EF4-FFF2-40B4-BE49-F238E27FC236}">
                <a16:creationId xmlns:a16="http://schemas.microsoft.com/office/drawing/2014/main" id="{FC5E276D-531E-45A9-B450-EFEC62CDC8DF}"/>
              </a:ext>
            </a:extLst>
          </p:cNvPr>
          <p:cNvSpPr txBox="1"/>
          <p:nvPr userDrawn="1"/>
        </p:nvSpPr>
        <p:spPr>
          <a:xfrm>
            <a:off x="4961284" y="93791"/>
            <a:ext cx="2269433" cy="31651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Neal Creative  | click &amp; 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Learn more</a:t>
            </a:r>
          </a:p>
        </p:txBody>
      </p:sp>
      <p:sp>
        <p:nvSpPr>
          <p:cNvPr id="7" name="TextBox 6">
            <a:hlinkClick r:id="rId4"/>
          </p:cNvPr>
          <p:cNvSpPr txBox="1"/>
          <p:nvPr userDrawn="1"/>
        </p:nvSpPr>
        <p:spPr>
          <a:xfrm>
            <a:off x="0" y="6548363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tx1"/>
                </a:solidFill>
              </a:rPr>
              <a:t>Neal Creative </a:t>
            </a: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tx1"/>
                </a:solidFill>
              </a:rPr>
              <a:t> 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273A61-5610-4355-89F3-7C90515BFCC9}"/>
              </a:ext>
            </a:extLst>
          </p:cNvPr>
          <p:cNvGrpSpPr/>
          <p:nvPr userDrawn="1"/>
        </p:nvGrpSpPr>
        <p:grpSpPr>
          <a:xfrm>
            <a:off x="5976075" y="3634505"/>
            <a:ext cx="1700633" cy="1798732"/>
            <a:chOff x="5976075" y="3634505"/>
            <a:chExt cx="1700633" cy="179873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A49345F-7A53-4131-8BB4-087032A6CC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61135" y="4142336"/>
              <a:ext cx="860601" cy="129090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96D35F-1F19-4447-829C-790DF2B8D2DD}"/>
                </a:ext>
              </a:extLst>
            </p:cNvPr>
            <p:cNvSpPr txBox="1"/>
            <p:nvPr/>
          </p:nvSpPr>
          <p:spPr>
            <a:xfrm>
              <a:off x="5976075" y="3634505"/>
              <a:ext cx="170063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TIP 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│ Use the built-in c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olor palette with green and yellow for callouts and accents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3556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R TRANSI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 userDrawn="1"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ap="flat" cmpd="sng" algn="ctr">
            <a:solidFill>
              <a:srgbClr val="75D1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9939" y="2240230"/>
            <a:ext cx="9107555" cy="2308324"/>
          </a:xfrm>
          <a:prstGeom prst="rect">
            <a:avLst/>
          </a:prstGeom>
          <a:noFill/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i="0" kern="1200" spc="-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E516C148-33F4-423B-AB9D-096AA82E12F1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Neal Creative </a:t>
            </a:r>
            <a:r>
              <a:rPr lang="en-US" sz="900" kern="1200" noProof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noProof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sz="1000" b="1" noProof="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620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llout with small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29748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0" y="3367878"/>
            <a:ext cx="5192775" cy="1830245"/>
          </a:xfrm>
        </p:spPr>
        <p:txBody>
          <a:bodyPr wrap="square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/>
              <a:defRPr lang="en-US" sz="3137" kern="1200" spc="0" baseline="0" dirty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r>
              <a:rPr lang="en-US" dirty="0"/>
              <a:t>A short introduction</a:t>
            </a:r>
            <a:br>
              <a:rPr lang="en-US" dirty="0"/>
            </a:br>
            <a:r>
              <a:rPr lang="en-US" dirty="0"/>
              <a:t>to the data, revealing</a:t>
            </a:r>
            <a:br>
              <a:rPr lang="en-US" dirty="0"/>
            </a:br>
            <a:r>
              <a:rPr lang="en-US" dirty="0"/>
              <a:t>points one at a time, will enhance comprehension.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53316" y="3503950"/>
            <a:ext cx="5671764" cy="1705723"/>
          </a:xfrm>
        </p:spPr>
        <p:txBody>
          <a:bodyPr/>
          <a:lstStyle>
            <a:lvl1pPr marL="0" indent="0" algn="l">
              <a:buNone/>
              <a:defRPr sz="1961">
                <a:latin typeface="+mn-lt"/>
              </a:defRPr>
            </a:lvl1pPr>
            <a:lvl2pPr marL="0" indent="0" algn="l">
              <a:buNone/>
              <a:defRPr sz="1765">
                <a:latin typeface="+mn-lt"/>
              </a:defRPr>
            </a:lvl2pPr>
            <a:lvl3pPr marL="0" indent="0" algn="l">
              <a:buNone/>
              <a:defRPr sz="1568">
                <a:latin typeface="+mn-lt"/>
              </a:defRPr>
            </a:lvl3pPr>
            <a:lvl4pPr marL="0" indent="0" algn="l">
              <a:buNone/>
              <a:defRPr sz="1372">
                <a:latin typeface="+mn-lt"/>
              </a:defRPr>
            </a:lvl4pPr>
            <a:lvl5pPr marL="0" indent="0" algn="l">
              <a:buNone/>
              <a:defRPr sz="1372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2974848"/>
          </a:xfrm>
          <a:blipFill>
            <a:blip r:embed="rId2"/>
            <a:srcRect/>
            <a:stretch>
              <a:fillRect t="-65721" r="-4798" b="-46455"/>
            </a:stretch>
          </a:blipFill>
        </p:spPr>
        <p:txBody>
          <a:bodyPr anchor="ctr" anchorCtr="0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Box 11">
            <a:hlinkClick r:id="rId3"/>
            <a:extLst>
              <a:ext uri="{FF2B5EF4-FFF2-40B4-BE49-F238E27FC236}">
                <a16:creationId xmlns:a16="http://schemas.microsoft.com/office/drawing/2014/main" id="{B2DA80A1-9E22-4BFF-8562-466123B36943}"/>
              </a:ext>
            </a:extLst>
          </p:cNvPr>
          <p:cNvSpPr txBox="1"/>
          <p:nvPr userDrawn="1"/>
        </p:nvSpPr>
        <p:spPr>
          <a:xfrm>
            <a:off x="9089198" y="6298102"/>
            <a:ext cx="2466220" cy="367873"/>
          </a:xfrm>
          <a:prstGeom prst="roundRect">
            <a:avLst>
              <a:gd name="adj" fmla="val 50000"/>
            </a:avLst>
          </a:prstGeom>
          <a:solidFill>
            <a:srgbClr val="004568"/>
          </a:solidFill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Neal Creative  | click &amp;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Learn more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419099"/>
            <a:ext cx="8917577" cy="6259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1AF511EA-044E-4300-B921-D56138FE402E}"/>
              </a:ext>
            </a:extLst>
          </p:cNvPr>
          <p:cNvSpPr txBox="1"/>
          <p:nvPr userDrawn="1"/>
        </p:nvSpPr>
        <p:spPr>
          <a:xfrm>
            <a:off x="191616" y="6337795"/>
            <a:ext cx="1209664" cy="346234"/>
          </a:xfrm>
          <a:prstGeom prst="roundRect">
            <a:avLst>
              <a:gd name="adj" fmla="val 50000"/>
            </a:avLst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Neal Creative </a:t>
            </a:r>
            <a:r>
              <a:rPr lang="en-US" sz="900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US" sz="1000" baseline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en-US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34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75347"/>
            <a:ext cx="11658600" cy="18707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04800" y="419100"/>
            <a:ext cx="11658600" cy="5909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7"/>
            <a:ext cx="523406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1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12" r:id="rId2"/>
    <p:sldLayoutId id="2147483672" r:id="rId3"/>
    <p:sldLayoutId id="2147483749" r:id="rId4"/>
    <p:sldLayoutId id="2147483750" r:id="rId5"/>
    <p:sldLayoutId id="2147483752" r:id="rId6"/>
    <p:sldLayoutId id="2147483674" r:id="rId7"/>
    <p:sldLayoutId id="2147483720" r:id="rId8"/>
    <p:sldLayoutId id="2147483721" r:id="rId9"/>
    <p:sldLayoutId id="2147483732" r:id="rId10"/>
    <p:sldLayoutId id="2147483730" r:id="rId11"/>
    <p:sldLayoutId id="2147483716" r:id="rId12"/>
    <p:sldLayoutId id="2147483735" r:id="rId13"/>
    <p:sldLayoutId id="2147483700" r:id="rId14"/>
    <p:sldLayoutId id="2147483734" r:id="rId15"/>
    <p:sldLayoutId id="2147483701" r:id="rId16"/>
    <p:sldLayoutId id="2147483736" r:id="rId17"/>
    <p:sldLayoutId id="2147483733" r:id="rId18"/>
    <p:sldLayoutId id="2147483741" r:id="rId19"/>
    <p:sldLayoutId id="2147483727" r:id="rId20"/>
    <p:sldLayoutId id="2147483719" r:id="rId21"/>
    <p:sldLayoutId id="2147483655" r:id="rId22"/>
    <p:sldLayoutId id="2147483748" r:id="rId23"/>
    <p:sldLayoutId id="2147483753" r:id="rId24"/>
    <p:sldLayoutId id="2147483747" r:id="rId25"/>
    <p:sldLayoutId id="2147483745" r:id="rId26"/>
    <p:sldLayoutId id="2147483737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spc="300" dirty="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gradFill>
            <a:gsLst>
              <a:gs pos="15000">
                <a:schemeClr val="tx1"/>
              </a:gs>
              <a:gs pos="47000">
                <a:schemeClr val="tx1"/>
              </a:gs>
            </a:gsLst>
            <a:lin ang="5400000" scaled="1"/>
          </a:gra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92" userDrawn="1">
          <p15:clr>
            <a:srgbClr val="F26B43"/>
          </p15:clr>
        </p15:guide>
        <p15:guide id="4" pos="7536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792" userDrawn="1">
          <p15:clr>
            <a:srgbClr val="F26B43"/>
          </p15:clr>
        </p15:guide>
        <p15:guide id="7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Placeholder 30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219939" y="-739444"/>
            <a:ext cx="9107555" cy="903443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07634" y="3213970"/>
            <a:ext cx="2805809" cy="2783284"/>
          </a:xfrm>
          <a:prstGeom prst="ellipse">
            <a:avLst/>
          </a:prstGeom>
          <a:noFill/>
          <a:ln w="19050" cmpd="thinThick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Rectangle 45"/>
          <p:cNvSpPr/>
          <p:nvPr/>
        </p:nvSpPr>
        <p:spPr>
          <a:xfrm flipH="1">
            <a:off x="7911255" y="4253573"/>
            <a:ext cx="2995659" cy="7040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</a:pPr>
            <a:r>
              <a:rPr lang="en-US" sz="2800" dirty="0">
                <a:gradFill>
                  <a:gsLst>
                    <a:gs pos="0">
                      <a:srgbClr val="75D1FF">
                        <a:lumMod val="5000"/>
                        <a:lumOff val="95000"/>
                      </a:srgbClr>
                    </a:gs>
                    <a:gs pos="100000">
                      <a:srgbClr val="FFFFFF"/>
                    </a:gs>
                  </a:gsLst>
                  <a:lin ang="5400000" scaled="1"/>
                </a:gradFill>
              </a:rPr>
              <a:t>EDA and </a:t>
            </a:r>
            <a:r>
              <a:rPr lang="en-US" sz="2800" dirty="0" err="1">
                <a:gradFill>
                  <a:gsLst>
                    <a:gs pos="0">
                      <a:srgbClr val="75D1FF">
                        <a:lumMod val="5000"/>
                        <a:lumOff val="95000"/>
                      </a:srgbClr>
                    </a:gs>
                    <a:gs pos="100000">
                      <a:srgbClr val="FFFFFF"/>
                    </a:gs>
                  </a:gsLst>
                  <a:lin ang="5400000" scaled="1"/>
                </a:gradFill>
              </a:rPr>
              <a:t>vizualizaions</a:t>
            </a:r>
            <a:endParaRPr lang="en-US" sz="2800" dirty="0">
              <a:gradFill>
                <a:gsLst>
                  <a:gs pos="0">
                    <a:srgbClr val="75D1FF">
                      <a:lumMod val="5000"/>
                      <a:lumOff val="95000"/>
                    </a:srgbClr>
                  </a:gs>
                  <a:gs pos="100000">
                    <a:srgbClr val="FFFFFF"/>
                  </a:gs>
                </a:gsLst>
                <a:lin ang="5400000" scaled="1"/>
              </a:gradFill>
            </a:endParaRPr>
          </a:p>
        </p:txBody>
      </p:sp>
      <p:sp>
        <p:nvSpPr>
          <p:cNvPr id="9" name="Title 6"/>
          <p:cNvSpPr txBox="1">
            <a:spLocks/>
          </p:cNvSpPr>
          <p:nvPr/>
        </p:nvSpPr>
        <p:spPr>
          <a:xfrm>
            <a:off x="1679957" y="3280601"/>
            <a:ext cx="5909265" cy="874205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i="0" kern="1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sz="8800" spc="-3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atin typeface="+mn-lt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7847" y="2461199"/>
            <a:ext cx="8804365" cy="840230"/>
          </a:xfrm>
        </p:spPr>
        <p:txBody>
          <a:bodyPr/>
          <a:lstStyle/>
          <a:p>
            <a:r>
              <a:rPr lang="en-US" sz="5400" dirty="0"/>
              <a:t>Credit Card Clustering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396266" y="3162946"/>
            <a:ext cx="9461500" cy="1311128"/>
          </a:xfrm>
        </p:spPr>
        <p:txBody>
          <a:bodyPr/>
          <a:lstStyle/>
          <a:p>
            <a:r>
              <a:rPr lang="en-US" dirty="0"/>
              <a:t>PRESENTATIONS</a:t>
            </a:r>
            <a:r>
              <a:rPr lang="en-US" sz="8800" spc="-300" dirty="0"/>
              <a:t>!</a:t>
            </a:r>
            <a:r>
              <a:rPr lang="en-US" dirty="0"/>
              <a:t> </a:t>
            </a:r>
          </a:p>
        </p:txBody>
      </p:sp>
      <p:sp>
        <p:nvSpPr>
          <p:cNvPr id="19" name="Freeform: Shape 18"/>
          <p:cNvSpPr/>
          <p:nvPr/>
        </p:nvSpPr>
        <p:spPr>
          <a:xfrm>
            <a:off x="7066536" y="4361548"/>
            <a:ext cx="488128" cy="488128"/>
          </a:xfrm>
          <a:custGeom>
            <a:avLst/>
            <a:gdLst>
              <a:gd name="connsiteX0" fmla="*/ 244064 w 488128"/>
              <a:gd name="connsiteY0" fmla="*/ 0 h 488128"/>
              <a:gd name="connsiteX1" fmla="*/ 488128 w 488128"/>
              <a:gd name="connsiteY1" fmla="*/ 244064 h 488128"/>
              <a:gd name="connsiteX2" fmla="*/ 244064 w 488128"/>
              <a:gd name="connsiteY2" fmla="*/ 488128 h 488128"/>
              <a:gd name="connsiteX3" fmla="*/ 0 w 488128"/>
              <a:gd name="connsiteY3" fmla="*/ 244064 h 488128"/>
              <a:gd name="connsiteX4" fmla="*/ 244064 w 488128"/>
              <a:gd name="connsiteY4" fmla="*/ 0 h 48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128" h="488128">
                <a:moveTo>
                  <a:pt x="244064" y="0"/>
                </a:moveTo>
                <a:cubicBezTo>
                  <a:pt x="378857" y="0"/>
                  <a:pt x="488128" y="109271"/>
                  <a:pt x="488128" y="244064"/>
                </a:cubicBezTo>
                <a:cubicBezTo>
                  <a:pt x="488128" y="378857"/>
                  <a:pt x="378857" y="488128"/>
                  <a:pt x="244064" y="488128"/>
                </a:cubicBezTo>
                <a:cubicBezTo>
                  <a:pt x="109271" y="488128"/>
                  <a:pt x="0" y="378857"/>
                  <a:pt x="0" y="244064"/>
                </a:cubicBezTo>
                <a:cubicBezTo>
                  <a:pt x="0" y="109271"/>
                  <a:pt x="109271" y="0"/>
                  <a:pt x="24406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2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5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46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C7E8-586B-4E47-91C9-9B6EB5349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777" y="3060987"/>
            <a:ext cx="5208335" cy="677108"/>
          </a:xfrm>
        </p:spPr>
        <p:txBody>
          <a:bodyPr/>
          <a:lstStyle/>
          <a:p>
            <a:r>
              <a:rPr lang="en-US" dirty="0"/>
              <a:t>1-EDA</a:t>
            </a:r>
          </a:p>
        </p:txBody>
      </p:sp>
    </p:spTree>
    <p:extLst>
      <p:ext uri="{BB962C8B-B14F-4D97-AF65-F5344CB8AC3E}">
        <p14:creationId xmlns:p14="http://schemas.microsoft.com/office/powerpoint/2010/main" val="3969428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760200" y="6465888"/>
            <a:ext cx="431800" cy="365125"/>
          </a:xfrm>
          <a:prstGeom prst="rect">
            <a:avLst/>
          </a:prstGeom>
        </p:spPr>
        <p:txBody>
          <a:bodyPr/>
          <a:lstStyle/>
          <a:p>
            <a:fld id="{5AE1514C-5E56-4738-A1FF-4B1CFD2A3E3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2688" y="243410"/>
            <a:ext cx="670312" cy="580653"/>
          </a:xfrm>
          <a:custGeom>
            <a:avLst/>
            <a:gdLst>
              <a:gd name="connsiteX0" fmla="*/ 603423 w 670312"/>
              <a:gd name="connsiteY0" fmla="*/ 0 h 580653"/>
              <a:gd name="connsiteX1" fmla="*/ 670312 w 670312"/>
              <a:gd name="connsiteY1" fmla="*/ 126662 h 580653"/>
              <a:gd name="connsiteX2" fmla="*/ 557170 w 670312"/>
              <a:gd name="connsiteY2" fmla="*/ 203157 h 580653"/>
              <a:gd name="connsiteX3" fmla="*/ 522302 w 670312"/>
              <a:gd name="connsiteY3" fmla="*/ 293172 h 580653"/>
              <a:gd name="connsiteX4" fmla="*/ 670312 w 670312"/>
              <a:gd name="connsiteY4" fmla="*/ 293172 h 580653"/>
              <a:gd name="connsiteX5" fmla="*/ 670312 w 670312"/>
              <a:gd name="connsiteY5" fmla="*/ 580653 h 580653"/>
              <a:gd name="connsiteX6" fmla="*/ 360772 w 670312"/>
              <a:gd name="connsiteY6" fmla="*/ 580653 h 580653"/>
              <a:gd name="connsiteX7" fmla="*/ 360772 w 670312"/>
              <a:gd name="connsiteY7" fmla="*/ 342272 h 580653"/>
              <a:gd name="connsiteX8" fmla="*/ 415564 w 670312"/>
              <a:gd name="connsiteY8" fmla="*/ 134489 h 580653"/>
              <a:gd name="connsiteX9" fmla="*/ 603423 w 670312"/>
              <a:gd name="connsiteY9" fmla="*/ 0 h 580653"/>
              <a:gd name="connsiteX10" fmla="*/ 242650 w 670312"/>
              <a:gd name="connsiteY10" fmla="*/ 0 h 580653"/>
              <a:gd name="connsiteX11" fmla="*/ 309539 w 670312"/>
              <a:gd name="connsiteY11" fmla="*/ 126662 h 580653"/>
              <a:gd name="connsiteX12" fmla="*/ 196397 w 670312"/>
              <a:gd name="connsiteY12" fmla="*/ 203157 h 580653"/>
              <a:gd name="connsiteX13" fmla="*/ 161530 w 670312"/>
              <a:gd name="connsiteY13" fmla="*/ 293172 h 580653"/>
              <a:gd name="connsiteX14" fmla="*/ 309539 w 670312"/>
              <a:gd name="connsiteY14" fmla="*/ 293172 h 580653"/>
              <a:gd name="connsiteX15" fmla="*/ 309539 w 670312"/>
              <a:gd name="connsiteY15" fmla="*/ 580653 h 580653"/>
              <a:gd name="connsiteX16" fmla="*/ 0 w 670312"/>
              <a:gd name="connsiteY16" fmla="*/ 580653 h 580653"/>
              <a:gd name="connsiteX17" fmla="*/ 0 w 670312"/>
              <a:gd name="connsiteY17" fmla="*/ 342272 h 580653"/>
              <a:gd name="connsiteX18" fmla="*/ 54792 w 670312"/>
              <a:gd name="connsiteY18" fmla="*/ 134489 h 580653"/>
              <a:gd name="connsiteX19" fmla="*/ 242650 w 670312"/>
              <a:gd name="connsiteY19" fmla="*/ 0 h 58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70312" h="580653">
                <a:moveTo>
                  <a:pt x="603423" y="0"/>
                </a:moveTo>
                <a:lnTo>
                  <a:pt x="670312" y="126662"/>
                </a:lnTo>
                <a:cubicBezTo>
                  <a:pt x="615757" y="152279"/>
                  <a:pt x="578043" y="177777"/>
                  <a:pt x="557170" y="203157"/>
                </a:cubicBezTo>
                <a:cubicBezTo>
                  <a:pt x="536297" y="228537"/>
                  <a:pt x="524674" y="258542"/>
                  <a:pt x="522302" y="293172"/>
                </a:cubicBezTo>
                <a:lnTo>
                  <a:pt x="670312" y="293172"/>
                </a:lnTo>
                <a:lnTo>
                  <a:pt x="670312" y="580653"/>
                </a:lnTo>
                <a:lnTo>
                  <a:pt x="360772" y="580653"/>
                </a:lnTo>
                <a:lnTo>
                  <a:pt x="360772" y="342272"/>
                </a:lnTo>
                <a:cubicBezTo>
                  <a:pt x="360772" y="254510"/>
                  <a:pt x="379036" y="185249"/>
                  <a:pt x="415564" y="134489"/>
                </a:cubicBezTo>
                <a:cubicBezTo>
                  <a:pt x="452092" y="83729"/>
                  <a:pt x="514712" y="38900"/>
                  <a:pt x="603423" y="0"/>
                </a:cubicBezTo>
                <a:close/>
                <a:moveTo>
                  <a:pt x="242650" y="0"/>
                </a:moveTo>
                <a:lnTo>
                  <a:pt x="309539" y="126662"/>
                </a:lnTo>
                <a:cubicBezTo>
                  <a:pt x="254985" y="152279"/>
                  <a:pt x="217271" y="177777"/>
                  <a:pt x="196397" y="203157"/>
                </a:cubicBezTo>
                <a:cubicBezTo>
                  <a:pt x="175524" y="228537"/>
                  <a:pt x="163902" y="258542"/>
                  <a:pt x="161530" y="293172"/>
                </a:cubicBezTo>
                <a:lnTo>
                  <a:pt x="309539" y="293172"/>
                </a:lnTo>
                <a:lnTo>
                  <a:pt x="309539" y="580653"/>
                </a:lnTo>
                <a:lnTo>
                  <a:pt x="0" y="580653"/>
                </a:lnTo>
                <a:lnTo>
                  <a:pt x="0" y="342272"/>
                </a:lnTo>
                <a:cubicBezTo>
                  <a:pt x="0" y="254510"/>
                  <a:pt x="18264" y="185249"/>
                  <a:pt x="54792" y="134489"/>
                </a:cubicBezTo>
                <a:cubicBezTo>
                  <a:pt x="91320" y="83729"/>
                  <a:pt x="153940" y="38900"/>
                  <a:pt x="2426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F5AF21-1767-4086-B80B-E7FB161CCF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377" y="639397"/>
            <a:ext cx="4639236" cy="646331"/>
          </a:xfrm>
        </p:spPr>
        <p:txBody>
          <a:bodyPr/>
          <a:lstStyle/>
          <a:p>
            <a:pPr algn="l"/>
            <a:r>
              <a:rPr lang="en-US" dirty="0"/>
              <a:t>Let’s Get some information about the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2CC5FD-6C76-4154-9219-59F0D358C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214" y="1615485"/>
            <a:ext cx="8695561" cy="468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0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B18B-19BF-47C9-81E2-600D7B3486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5658" y="2868701"/>
            <a:ext cx="5096624" cy="1006429"/>
          </a:xfrm>
        </p:spPr>
        <p:txBody>
          <a:bodyPr/>
          <a:lstStyle/>
          <a:p>
            <a:r>
              <a:rPr lang="en-US" dirty="0"/>
              <a:t>There’s no duplicated data and few missing values in “Minimum payments column”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4B3B1-2A82-4B18-8CC4-C55E8A47C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9432A4-8314-4D58-BDDD-9512E908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97" y="0"/>
            <a:ext cx="4083304" cy="2243691"/>
          </a:xfrm>
        </p:spPr>
        <p:txBody>
          <a:bodyPr/>
          <a:lstStyle/>
          <a:p>
            <a:r>
              <a:rPr lang="en-US" sz="3200" dirty="0"/>
              <a:t>Missing values and duplicates and outliers</a:t>
            </a:r>
            <a:br>
              <a:rPr lang="en-US" sz="3200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ABEC54-A7D1-405A-ADF2-CF10CEE9166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79" y="318623"/>
            <a:ext cx="4083304" cy="3110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BBB575-4EAE-43CE-90AE-57206E0BC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79" y="3822316"/>
            <a:ext cx="5604251" cy="2717061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6479889-C1B4-42F0-BEE7-BA2CC11CE9DF}"/>
              </a:ext>
            </a:extLst>
          </p:cNvPr>
          <p:cNvSpPr txBox="1">
            <a:spLocks/>
          </p:cNvSpPr>
          <p:nvPr/>
        </p:nvSpPr>
        <p:spPr>
          <a:xfrm>
            <a:off x="353916" y="4858865"/>
            <a:ext cx="5096624" cy="3970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>
                <a:gradFill>
                  <a:gsLst>
                    <a:gs pos="15000">
                      <a:schemeClr val="tx1"/>
                    </a:gs>
                    <a:gs pos="47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765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68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372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372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Almost all columns have outliers</a:t>
            </a:r>
          </a:p>
        </p:txBody>
      </p:sp>
    </p:spTree>
    <p:extLst>
      <p:ext uri="{BB962C8B-B14F-4D97-AF65-F5344CB8AC3E}">
        <p14:creationId xmlns:p14="http://schemas.microsoft.com/office/powerpoint/2010/main" val="188496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1C8237-5734-4117-8C97-7B7351FD83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9697" y="328565"/>
            <a:ext cx="5447487" cy="590931"/>
          </a:xfrm>
        </p:spPr>
        <p:txBody>
          <a:bodyPr/>
          <a:lstStyle/>
          <a:p>
            <a:r>
              <a:rPr lang="en-US" dirty="0"/>
              <a:t>What about null values?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09E32-51FF-4E94-B271-63EC21F9A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0" y="2185716"/>
            <a:ext cx="3559352" cy="3139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6AC513-54BA-4B8A-BB4D-E2E69F0F3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791" y="2237822"/>
            <a:ext cx="5585944" cy="6706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293407-2AD0-4023-AC4D-90EC2122B166}"/>
              </a:ext>
            </a:extLst>
          </p:cNvPr>
          <p:cNvSpPr txBox="1"/>
          <p:nvPr/>
        </p:nvSpPr>
        <p:spPr>
          <a:xfrm>
            <a:off x="4142791" y="4226767"/>
            <a:ext cx="6232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Almost all The values of “Payments” columns = 0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so can replace all this null values in “Minimum Payments“ column with zero.</a:t>
            </a:r>
          </a:p>
        </p:txBody>
      </p:sp>
    </p:spTree>
    <p:extLst>
      <p:ext uri="{BB962C8B-B14F-4D97-AF65-F5344CB8AC3E}">
        <p14:creationId xmlns:p14="http://schemas.microsoft.com/office/powerpoint/2010/main" val="270833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1469-0D02-4A46-AEF5-4563C2F5E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777" y="2768599"/>
            <a:ext cx="5208335" cy="1261884"/>
          </a:xfrm>
        </p:spPr>
        <p:txBody>
          <a:bodyPr/>
          <a:lstStyle/>
          <a:p>
            <a:r>
              <a:rPr lang="en-US" dirty="0"/>
              <a:t>2-PREPROCESSING	</a:t>
            </a:r>
          </a:p>
        </p:txBody>
      </p:sp>
    </p:spTree>
    <p:extLst>
      <p:ext uri="{BB962C8B-B14F-4D97-AF65-F5344CB8AC3E}">
        <p14:creationId xmlns:p14="http://schemas.microsoft.com/office/powerpoint/2010/main" val="2371667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475B9D-DE22-4CCF-8CEC-3F9334FE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447" y="-62753"/>
            <a:ext cx="7041089" cy="1357295"/>
          </a:xfrm>
        </p:spPr>
        <p:txBody>
          <a:bodyPr/>
          <a:lstStyle/>
          <a:p>
            <a:r>
              <a:rPr lang="en-US" dirty="0"/>
              <a:t>2.1- handling missing values and outliers we Tried 2 methods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FB468E-6511-4E93-A9B5-1DD79EE74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6" y="3071154"/>
            <a:ext cx="4046571" cy="3566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D1CF9F-2E37-4E65-B0EE-3727294766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471" y="3071154"/>
            <a:ext cx="3699686" cy="3572839"/>
          </a:xfrm>
          <a:prstGeom prst="rect">
            <a:avLst/>
          </a:prstGeom>
        </p:spPr>
      </p:pic>
      <p:sp>
        <p:nvSpPr>
          <p:cNvPr id="15" name="Title 3">
            <a:extLst>
              <a:ext uri="{FF2B5EF4-FFF2-40B4-BE49-F238E27FC236}">
                <a16:creationId xmlns:a16="http://schemas.microsoft.com/office/drawing/2014/main" id="{F536CCDA-6EC6-49A6-B04C-7DE1B93FD528}"/>
              </a:ext>
            </a:extLst>
          </p:cNvPr>
          <p:cNvSpPr txBox="1">
            <a:spLocks/>
          </p:cNvSpPr>
          <p:nvPr/>
        </p:nvSpPr>
        <p:spPr>
          <a:xfrm>
            <a:off x="591671" y="2047121"/>
            <a:ext cx="3541059" cy="969496"/>
          </a:xfrm>
          <a:prstGeom prst="rect">
            <a:avLst/>
          </a:prstGeom>
        </p:spPr>
        <p:txBody>
          <a:bodyPr vert="horz" wrap="square" lIns="146304" tIns="420624" rIns="146304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1- replace Nan with Zeros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(Way 1)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B5C70BAF-2DAD-48D8-90B8-F49E9E44056A}"/>
              </a:ext>
            </a:extLst>
          </p:cNvPr>
          <p:cNvSpPr txBox="1">
            <a:spLocks/>
          </p:cNvSpPr>
          <p:nvPr/>
        </p:nvSpPr>
        <p:spPr>
          <a:xfrm>
            <a:off x="7539318" y="1799080"/>
            <a:ext cx="4652682" cy="1218795"/>
          </a:xfrm>
          <a:prstGeom prst="rect">
            <a:avLst/>
          </a:prstGeom>
        </p:spPr>
        <p:txBody>
          <a:bodyPr vert="horz" wrap="square" lIns="146304" tIns="420624" rIns="146304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spc="60" baseline="0" dirty="0">
                <a:solidFill>
                  <a:schemeClr val="bg1"/>
                </a:solidFill>
                <a:latin typeface="+mj-lt"/>
                <a:ea typeface="+mn-ea"/>
                <a:cs typeface="Segoe UI Semilight" panose="020B0402040204020203" pitchFamily="34" charset="0"/>
              </a:defRPr>
            </a:lvl1pPr>
          </a:lstStyle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2- transform all outliers to nans and impute them using KNN  imputer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(Way 2)</a:t>
            </a:r>
          </a:p>
        </p:txBody>
      </p:sp>
    </p:spTree>
    <p:extLst>
      <p:ext uri="{BB962C8B-B14F-4D97-AF65-F5344CB8AC3E}">
        <p14:creationId xmlns:p14="http://schemas.microsoft.com/office/powerpoint/2010/main" val="162395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6016DD-627D-4F73-A7B6-69F7C6C4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C43235-9666-4635-B2E6-FA31BED9A79F}"/>
              </a:ext>
            </a:extLst>
          </p:cNvPr>
          <p:cNvSpPr txBox="1">
            <a:spLocks/>
          </p:cNvSpPr>
          <p:nvPr/>
        </p:nvSpPr>
        <p:spPr>
          <a:xfrm>
            <a:off x="3612665" y="166497"/>
            <a:ext cx="6427695" cy="761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spc="300" dirty="0">
                <a:gradFill>
                  <a:gsLst>
                    <a:gs pos="15000">
                      <a:schemeClr val="tx1"/>
                    </a:gs>
                    <a:gs pos="47000">
                      <a:schemeClr val="tx1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pt-BR" sz="2400" b="1" i="1" dirty="0">
                <a:cs typeface="Arial" panose="020B0604020202020204" pitchFamily="34" charset="0"/>
              </a:rPr>
              <a:t>2.2- ScalingThe data</a:t>
            </a:r>
          </a:p>
          <a:p>
            <a:endParaRPr lang="pt-BR" sz="2400" b="1" i="1" dirty="0"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chemeClr val="bg2"/>
                </a:solidFill>
                <a:cs typeface="Arial" panose="020B0604020202020204" pitchFamily="34" charset="0"/>
              </a:rPr>
              <a:t>Distribution of the data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C3E2B-A49D-4E28-9524-9D9C55A63998}"/>
              </a:ext>
            </a:extLst>
          </p:cNvPr>
          <p:cNvSpPr txBox="1"/>
          <p:nvPr/>
        </p:nvSpPr>
        <p:spPr>
          <a:xfrm>
            <a:off x="1354402" y="1511375"/>
            <a:ext cx="242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way 1 imputer: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27882-F422-4A46-A667-561704D112A2}"/>
              </a:ext>
            </a:extLst>
          </p:cNvPr>
          <p:cNvSpPr txBox="1"/>
          <p:nvPr/>
        </p:nvSpPr>
        <p:spPr>
          <a:xfrm>
            <a:off x="7787951" y="1604682"/>
            <a:ext cx="2615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way 2 imputer: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DD766C-20CB-4F5D-A1C1-9F76FEC8942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38" y="1927543"/>
            <a:ext cx="5217400" cy="3656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73C31F-2989-4F8F-84B9-11DB3762AE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513" y="2017642"/>
            <a:ext cx="5005090" cy="3476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B55366-449A-43A6-A46C-D802B4AB7786}"/>
              </a:ext>
            </a:extLst>
          </p:cNvPr>
          <p:cNvSpPr txBox="1"/>
          <p:nvPr/>
        </p:nvSpPr>
        <p:spPr>
          <a:xfrm>
            <a:off x="4829626" y="5990618"/>
            <a:ext cx="3129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Most of Data right Skewed</a:t>
            </a:r>
          </a:p>
        </p:txBody>
      </p:sp>
    </p:spTree>
    <p:extLst>
      <p:ext uri="{BB962C8B-B14F-4D97-AF65-F5344CB8AC3E}">
        <p14:creationId xmlns:p14="http://schemas.microsoft.com/office/powerpoint/2010/main" val="3676540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2.2.1 Scaling using Standard scaler</a:t>
            </a:r>
          </a:p>
        </p:txBody>
      </p:sp>
    </p:spTree>
    <p:extLst>
      <p:ext uri="{BB962C8B-B14F-4D97-AF65-F5344CB8AC3E}">
        <p14:creationId xmlns:p14="http://schemas.microsoft.com/office/powerpoint/2010/main" val="273520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D976D-5FC9-4D1D-8336-1EED9A00D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E1514C-5E56-4738-A1FF-4B1CFD2A3E3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66F7E7-8F05-4FAB-B0FC-C67D7ABF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244" y="0"/>
            <a:ext cx="4083304" cy="1357295"/>
          </a:xfrm>
        </p:spPr>
        <p:txBody>
          <a:bodyPr/>
          <a:lstStyle/>
          <a:p>
            <a:r>
              <a:rPr lang="en-US" dirty="0"/>
              <a:t>2.2.1-Distribution of The Data with STD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9638EA-B08F-4618-9E40-FB193B7DBE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44" y="2687216"/>
            <a:ext cx="4646646" cy="34896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69CF4D-50A9-4D27-91B0-32A0910363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112" y="2687216"/>
            <a:ext cx="4973288" cy="348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1B775E-DE20-4199-845F-09114E8BF15F}"/>
              </a:ext>
            </a:extLst>
          </p:cNvPr>
          <p:cNvSpPr txBox="1"/>
          <p:nvPr/>
        </p:nvSpPr>
        <p:spPr>
          <a:xfrm>
            <a:off x="7013511" y="2215167"/>
            <a:ext cx="517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way2 of handling Nan values and STD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F9340-179B-40D6-A31C-9BDD2B58B64E}"/>
              </a:ext>
            </a:extLst>
          </p:cNvPr>
          <p:cNvSpPr txBox="1"/>
          <p:nvPr/>
        </p:nvSpPr>
        <p:spPr>
          <a:xfrm>
            <a:off x="482860" y="2314004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way1 of handling Nan values and STD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36CD6-83F8-458A-A217-BB101F8E22C4}"/>
              </a:ext>
            </a:extLst>
          </p:cNvPr>
          <p:cNvSpPr txBox="1"/>
          <p:nvPr/>
        </p:nvSpPr>
        <p:spPr>
          <a:xfrm>
            <a:off x="482860" y="6286117"/>
            <a:ext cx="5068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data is almost still right skewed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6E9FFF-49C6-4BF3-81F0-2B0D0CBD3535}"/>
              </a:ext>
            </a:extLst>
          </p:cNvPr>
          <p:cNvSpPr txBox="1"/>
          <p:nvPr/>
        </p:nvSpPr>
        <p:spPr>
          <a:xfrm>
            <a:off x="7256884" y="6176865"/>
            <a:ext cx="4574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Still little skewed but better</a:t>
            </a:r>
          </a:p>
        </p:txBody>
      </p:sp>
    </p:spTree>
    <p:extLst>
      <p:ext uri="{BB962C8B-B14F-4D97-AF65-F5344CB8AC3E}">
        <p14:creationId xmlns:p14="http://schemas.microsoft.com/office/powerpoint/2010/main" val="51723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2240230"/>
            <a:ext cx="9107555" cy="2308324"/>
          </a:xfrm>
        </p:spPr>
        <p:txBody>
          <a:bodyPr/>
          <a:lstStyle/>
          <a:p>
            <a:r>
              <a:rPr lang="en-US" dirty="0"/>
              <a:t>2.3 Dimensionally reduction </a:t>
            </a:r>
          </a:p>
        </p:txBody>
      </p:sp>
    </p:spTree>
    <p:extLst>
      <p:ext uri="{BB962C8B-B14F-4D97-AF65-F5344CB8AC3E}">
        <p14:creationId xmlns:p14="http://schemas.microsoft.com/office/powerpoint/2010/main" val="3669679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2FB2A5-5BC6-4910-947A-61423309DA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65561" y="284471"/>
            <a:ext cx="4731591" cy="1089529"/>
          </a:xfrm>
        </p:spPr>
        <p:txBody>
          <a:bodyPr/>
          <a:lstStyle/>
          <a:p>
            <a:r>
              <a:rPr lang="en-US" b="1" dirty="0"/>
              <a:t>PCA vs Kernel-PCA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B6977-19C3-4757-871A-1F4AE22F603A}"/>
              </a:ext>
            </a:extLst>
          </p:cNvPr>
          <p:cNvSpPr txBox="1"/>
          <p:nvPr/>
        </p:nvSpPr>
        <p:spPr>
          <a:xfrm>
            <a:off x="2106706" y="1997351"/>
            <a:ext cx="1550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way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67CBE-B1C4-4B62-8B6A-5D7A175C4372}"/>
              </a:ext>
            </a:extLst>
          </p:cNvPr>
          <p:cNvSpPr txBox="1"/>
          <p:nvPr/>
        </p:nvSpPr>
        <p:spPr>
          <a:xfrm>
            <a:off x="7705164" y="1998240"/>
            <a:ext cx="1783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With way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3BF889-F0D1-4A6C-8E84-EB25CBF86D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37" y="2777674"/>
            <a:ext cx="5021611" cy="3298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CA1BDF-5777-44F8-AB56-DE8D7ADF6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270" y="2650784"/>
            <a:ext cx="4901492" cy="34255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0A1C30-BE61-4BF7-8C88-EDF7321939F7}"/>
              </a:ext>
            </a:extLst>
          </p:cNvPr>
          <p:cNvSpPr txBox="1"/>
          <p:nvPr/>
        </p:nvSpPr>
        <p:spPr>
          <a:xfrm>
            <a:off x="3989294" y="63026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PCA and PCA looks good so will try both</a:t>
            </a:r>
          </a:p>
        </p:txBody>
      </p:sp>
    </p:spTree>
    <p:extLst>
      <p:ext uri="{BB962C8B-B14F-4D97-AF65-F5344CB8AC3E}">
        <p14:creationId xmlns:p14="http://schemas.microsoft.com/office/powerpoint/2010/main" val="1527037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1469-0D02-4A46-AEF5-4563C2F5E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777" y="3060987"/>
            <a:ext cx="5208335" cy="677108"/>
          </a:xfrm>
        </p:spPr>
        <p:txBody>
          <a:bodyPr/>
          <a:lstStyle/>
          <a:p>
            <a:r>
              <a:rPr lang="en-US" dirty="0"/>
              <a:t>3-Modeling	</a:t>
            </a:r>
          </a:p>
        </p:txBody>
      </p:sp>
    </p:spTree>
    <p:extLst>
      <p:ext uri="{BB962C8B-B14F-4D97-AF65-F5344CB8AC3E}">
        <p14:creationId xmlns:p14="http://schemas.microsoft.com/office/powerpoint/2010/main" val="1206570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3.1 </a:t>
            </a:r>
            <a:r>
              <a:rPr lang="en-US" dirty="0" err="1"/>
              <a:t>KMeans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78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15</a:t>
            </a:fld>
            <a:endParaRPr lang="en-US" b="1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2D52D11-147A-4CBA-AF3A-B2CF3AAF99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>
          <a:xfrm>
            <a:off x="182433" y="1983833"/>
            <a:ext cx="5085671" cy="289033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8" y="277906"/>
            <a:ext cx="279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BA2D7C-3B6F-4C3C-A7EC-2E6807E48C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329" y="1719769"/>
            <a:ext cx="5600862" cy="32222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 clusters With Score: 28.8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26.1</a:t>
            </a:r>
          </a:p>
        </p:txBody>
      </p:sp>
    </p:spTree>
    <p:extLst>
      <p:ext uri="{BB962C8B-B14F-4D97-AF65-F5344CB8AC3E}">
        <p14:creationId xmlns:p14="http://schemas.microsoft.com/office/powerpoint/2010/main" val="1655161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16</a:t>
            </a:fld>
            <a:endParaRPr lang="en-US" b="1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B1D982B-7EF3-4003-A7E0-E2540785D8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" r="2579"/>
          <a:stretch>
            <a:fillRect/>
          </a:stretch>
        </p:blipFill>
        <p:spPr>
          <a:xfrm>
            <a:off x="241815" y="2176396"/>
            <a:ext cx="5095375" cy="289585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7" y="277906"/>
            <a:ext cx="361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Kernel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29069B-2EB4-42A0-9BCA-3D5F9BD7C49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046" y="2052665"/>
            <a:ext cx="5204911" cy="28958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81993B-77DD-406A-9414-1EA7150D65BB}"/>
              </a:ext>
            </a:extLst>
          </p:cNvPr>
          <p:cNvSpPr txBox="1"/>
          <p:nvPr/>
        </p:nvSpPr>
        <p:spPr>
          <a:xfrm>
            <a:off x="1183341" y="5557228"/>
            <a:ext cx="3558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33.7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6D639D-B430-48E2-8DB4-8735B3C4DCEA}"/>
              </a:ext>
            </a:extLst>
          </p:cNvPr>
          <p:cNvSpPr txBox="1"/>
          <p:nvPr/>
        </p:nvSpPr>
        <p:spPr>
          <a:xfrm>
            <a:off x="7449673" y="54272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31.4</a:t>
            </a:r>
          </a:p>
        </p:txBody>
      </p:sp>
    </p:spTree>
    <p:extLst>
      <p:ext uri="{BB962C8B-B14F-4D97-AF65-F5344CB8AC3E}">
        <p14:creationId xmlns:p14="http://schemas.microsoft.com/office/powerpoint/2010/main" val="229649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0033-742D-4C5B-BD6B-FED2CA803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939" y="3348225"/>
            <a:ext cx="9107555" cy="1200329"/>
          </a:xfrm>
        </p:spPr>
        <p:txBody>
          <a:bodyPr/>
          <a:lstStyle/>
          <a:p>
            <a:r>
              <a:rPr lang="en-US" dirty="0"/>
              <a:t>3.1 </a:t>
            </a:r>
            <a:r>
              <a:rPr lang="en-US" dirty="0" err="1"/>
              <a:t>KMeans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890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18</a:t>
            </a:fld>
            <a:endParaRPr lang="en-US" b="1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2D52D11-147A-4CBA-AF3A-B2CF3AAF99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>
          <a:xfrm>
            <a:off x="182433" y="1983833"/>
            <a:ext cx="5085671" cy="289033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8" y="277906"/>
            <a:ext cx="279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BA2D7C-3B6F-4C3C-A7EC-2E6807E48C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329" y="1719769"/>
            <a:ext cx="5600862" cy="32222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8764CC-5B67-4D15-849B-3F8DF4ACC0FA}"/>
              </a:ext>
            </a:extLst>
          </p:cNvPr>
          <p:cNvSpPr txBox="1"/>
          <p:nvPr/>
        </p:nvSpPr>
        <p:spPr>
          <a:xfrm>
            <a:off x="959224" y="5441577"/>
            <a:ext cx="3299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 clusters With Score: 28.8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F7438-AAC3-4337-B89B-A29BF4A0AC5E}"/>
              </a:ext>
            </a:extLst>
          </p:cNvPr>
          <p:cNvSpPr txBox="1"/>
          <p:nvPr/>
        </p:nvSpPr>
        <p:spPr>
          <a:xfrm>
            <a:off x="7933767" y="5427241"/>
            <a:ext cx="3299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26.1</a:t>
            </a:r>
          </a:p>
        </p:txBody>
      </p:sp>
    </p:spTree>
    <p:extLst>
      <p:ext uri="{BB962C8B-B14F-4D97-AF65-F5344CB8AC3E}">
        <p14:creationId xmlns:p14="http://schemas.microsoft.com/office/powerpoint/2010/main" val="3068136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703E0-D869-4715-9C48-4C55E43F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1514C-5E56-4738-A1FF-4B1CFD2A3E36}" type="slidenum">
              <a:rPr lang="en-US" b="1" smtClean="0"/>
              <a:t>19</a:t>
            </a:fld>
            <a:endParaRPr lang="en-US" b="1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B1D982B-7EF3-4003-A7E0-E2540785D8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" r="2579"/>
          <a:stretch>
            <a:fillRect/>
          </a:stretch>
        </p:blipFill>
        <p:spPr>
          <a:xfrm>
            <a:off x="241815" y="2176396"/>
            <a:ext cx="5095375" cy="289585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0EAF25-9AC8-4874-B317-3B535B9C0290}"/>
              </a:ext>
            </a:extLst>
          </p:cNvPr>
          <p:cNvSpPr txBox="1"/>
          <p:nvPr/>
        </p:nvSpPr>
        <p:spPr>
          <a:xfrm>
            <a:off x="358587" y="277906"/>
            <a:ext cx="3612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With Kernel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5B843-CE30-4E41-B13A-07FBBBED3252}"/>
              </a:ext>
            </a:extLst>
          </p:cNvPr>
          <p:cNvSpPr txBox="1"/>
          <p:nvPr/>
        </p:nvSpPr>
        <p:spPr>
          <a:xfrm>
            <a:off x="1828799" y="141642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73CC8-2395-4E52-A679-67211BECA768}"/>
              </a:ext>
            </a:extLst>
          </p:cNvPr>
          <p:cNvSpPr txBox="1"/>
          <p:nvPr/>
        </p:nvSpPr>
        <p:spPr>
          <a:xfrm>
            <a:off x="8615082" y="1246093"/>
            <a:ext cx="142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Way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29069B-2EB4-42A0-9BCA-3D5F9BD7C49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046" y="2052665"/>
            <a:ext cx="5204911" cy="28958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81993B-77DD-406A-9414-1EA7150D65BB}"/>
              </a:ext>
            </a:extLst>
          </p:cNvPr>
          <p:cNvSpPr txBox="1"/>
          <p:nvPr/>
        </p:nvSpPr>
        <p:spPr>
          <a:xfrm>
            <a:off x="1183341" y="5557228"/>
            <a:ext cx="3558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33.7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6D639D-B430-48E2-8DB4-8735B3C4DCEA}"/>
              </a:ext>
            </a:extLst>
          </p:cNvPr>
          <p:cNvSpPr txBox="1"/>
          <p:nvPr/>
        </p:nvSpPr>
        <p:spPr>
          <a:xfrm>
            <a:off x="7449673" y="54272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 clusters With Score: 31.4</a:t>
            </a:r>
          </a:p>
        </p:txBody>
      </p:sp>
    </p:spTree>
    <p:extLst>
      <p:ext uri="{BB962C8B-B14F-4D97-AF65-F5344CB8AC3E}">
        <p14:creationId xmlns:p14="http://schemas.microsoft.com/office/powerpoint/2010/main" val="1136918315"/>
      </p:ext>
    </p:extLst>
  </p:cSld>
  <p:clrMapOvr>
    <a:masterClrMapping/>
  </p:clrMapOvr>
</p:sld>
</file>

<file path=ppt/theme/theme1.xml><?xml version="1.0" encoding="utf-8"?>
<a:theme xmlns:a="http://schemas.openxmlformats.org/drawingml/2006/main" name="Storybuilding Neal Creative">
  <a:themeElements>
    <a:clrScheme name="Neal Analytics 2">
      <a:dk1>
        <a:srgbClr val="000000"/>
      </a:dk1>
      <a:lt1>
        <a:srgbClr val="FFFFFF"/>
      </a:lt1>
      <a:dk2>
        <a:srgbClr val="0074AF"/>
      </a:dk2>
      <a:lt2>
        <a:srgbClr val="00B0F0"/>
      </a:lt2>
      <a:accent1>
        <a:srgbClr val="75D1FF"/>
      </a:accent1>
      <a:accent2>
        <a:srgbClr val="004568"/>
      </a:accent2>
      <a:accent3>
        <a:srgbClr val="92D050"/>
      </a:accent3>
      <a:accent4>
        <a:srgbClr val="FFC000"/>
      </a:accent4>
      <a:accent5>
        <a:srgbClr val="004568"/>
      </a:accent5>
      <a:accent6>
        <a:srgbClr val="0074AF"/>
      </a:accent6>
      <a:hlink>
        <a:srgbClr val="43C0FF"/>
      </a:hlink>
      <a:folHlink>
        <a:srgbClr val="75D1FF"/>
      </a:folHlink>
    </a:clrScheme>
    <a:fontScheme name="MICROSOF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425_Powerful Presentations_Win32_mlw - v2" id="{7CBB6D80-F69F-4458-A96A-A39B855A93D5}" vid="{827664DE-2D82-4B7F-8582-8671022436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C2FF92-1ACE-4D23-9586-85906FF02F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0CA71C-6B24-463C-853F-076A02E27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2E6351-E64A-42DD-A554-7DF75222212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Powerful Presentations</Template>
  <TotalTime>112</TotalTime>
  <Words>344</Words>
  <Application>Microsoft Office PowerPoint</Application>
  <PresentationFormat>Widescreen</PresentationFormat>
  <Paragraphs>68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Black</vt:lpstr>
      <vt:lpstr>Calibri</vt:lpstr>
      <vt:lpstr>Segoe UI</vt:lpstr>
      <vt:lpstr>Segoe UI Black</vt:lpstr>
      <vt:lpstr>Segoe UI Light</vt:lpstr>
      <vt:lpstr>Segoe UI Semibold</vt:lpstr>
      <vt:lpstr>Segoe UI Semilight</vt:lpstr>
      <vt:lpstr>Wingdings</vt:lpstr>
      <vt:lpstr>Storybuilding Neal Creative</vt:lpstr>
      <vt:lpstr>Credit Card Clustering</vt:lpstr>
      <vt:lpstr>1-EDA</vt:lpstr>
      <vt:lpstr>PowerPoint Presentation</vt:lpstr>
      <vt:lpstr>Missing values and duplicates and outliers </vt:lpstr>
      <vt:lpstr>PowerPoint Presentation</vt:lpstr>
      <vt:lpstr>2-PREPROCESSING </vt:lpstr>
      <vt:lpstr>2.1- handling missing values and outliers we Tried 2 methods</vt:lpstr>
      <vt:lpstr>PowerPoint Presentation</vt:lpstr>
      <vt:lpstr>2.2.1 Scaling using Standard scaler</vt:lpstr>
      <vt:lpstr>2.2.1-Distribution of The Data with STD </vt:lpstr>
      <vt:lpstr>2.3 Dimensionally reduction </vt:lpstr>
      <vt:lpstr>PowerPoint Presentation</vt:lpstr>
      <vt:lpstr>3-Modeling </vt:lpstr>
      <vt:lpstr>3.1 KMeans</vt:lpstr>
      <vt:lpstr>PowerPoint Presentation</vt:lpstr>
      <vt:lpstr>PowerPoint Presentation</vt:lpstr>
      <vt:lpstr>3.1 KMeans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Clustering</dc:title>
  <dc:subject/>
  <dc:creator>Dina Ahmed</dc:creator>
  <cp:keywords/>
  <dc:description/>
  <cp:lastModifiedBy>Dina Ahmed</cp:lastModifiedBy>
  <cp:revision>4</cp:revision>
  <dcterms:created xsi:type="dcterms:W3CDTF">2023-03-04T05:28:12Z</dcterms:created>
  <dcterms:modified xsi:type="dcterms:W3CDTF">2023-03-04T14:03:08Z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