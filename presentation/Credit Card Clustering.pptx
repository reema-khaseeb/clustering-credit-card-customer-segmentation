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7"/>
  </p:notesMasterIdLst>
  <p:handoutMasterIdLst>
    <p:handoutMasterId r:id="rId68"/>
  </p:handoutMasterIdLst>
  <p:sldIdLst>
    <p:sldId id="383" r:id="rId5"/>
    <p:sldId id="389" r:id="rId6"/>
    <p:sldId id="379" r:id="rId7"/>
    <p:sldId id="447" r:id="rId8"/>
    <p:sldId id="385" r:id="rId9"/>
    <p:sldId id="387" r:id="rId10"/>
    <p:sldId id="388" r:id="rId11"/>
    <p:sldId id="386" r:id="rId12"/>
    <p:sldId id="392" r:id="rId13"/>
    <p:sldId id="391" r:id="rId14"/>
    <p:sldId id="393" r:id="rId15"/>
    <p:sldId id="394" r:id="rId16"/>
    <p:sldId id="395" r:id="rId17"/>
    <p:sldId id="396" r:id="rId18"/>
    <p:sldId id="397" r:id="rId19"/>
    <p:sldId id="399" r:id="rId20"/>
    <p:sldId id="398" r:id="rId21"/>
    <p:sldId id="400" r:id="rId22"/>
    <p:sldId id="401" r:id="rId23"/>
    <p:sldId id="402" r:id="rId24"/>
    <p:sldId id="403" r:id="rId25"/>
    <p:sldId id="404" r:id="rId26"/>
    <p:sldId id="405" r:id="rId27"/>
    <p:sldId id="406" r:id="rId28"/>
    <p:sldId id="407" r:id="rId29"/>
    <p:sldId id="408" r:id="rId30"/>
    <p:sldId id="409" r:id="rId31"/>
    <p:sldId id="410" r:id="rId32"/>
    <p:sldId id="411" r:id="rId33"/>
    <p:sldId id="412" r:id="rId34"/>
    <p:sldId id="413" r:id="rId35"/>
    <p:sldId id="414" r:id="rId36"/>
    <p:sldId id="415" r:id="rId37"/>
    <p:sldId id="416" r:id="rId38"/>
    <p:sldId id="417" r:id="rId39"/>
    <p:sldId id="418" r:id="rId40"/>
    <p:sldId id="419" r:id="rId41"/>
    <p:sldId id="421" r:id="rId42"/>
    <p:sldId id="422" r:id="rId43"/>
    <p:sldId id="423" r:id="rId44"/>
    <p:sldId id="424" r:id="rId45"/>
    <p:sldId id="425" r:id="rId46"/>
    <p:sldId id="426" r:id="rId47"/>
    <p:sldId id="430" r:id="rId48"/>
    <p:sldId id="428" r:id="rId49"/>
    <p:sldId id="429" r:id="rId50"/>
    <p:sldId id="433" r:id="rId51"/>
    <p:sldId id="432" r:id="rId52"/>
    <p:sldId id="434" r:id="rId53"/>
    <p:sldId id="435" r:id="rId54"/>
    <p:sldId id="436" r:id="rId55"/>
    <p:sldId id="437" r:id="rId56"/>
    <p:sldId id="438" r:id="rId57"/>
    <p:sldId id="439" r:id="rId58"/>
    <p:sldId id="440" r:id="rId59"/>
    <p:sldId id="441" r:id="rId60"/>
    <p:sldId id="442" r:id="rId61"/>
    <p:sldId id="443" r:id="rId62"/>
    <p:sldId id="444" r:id="rId63"/>
    <p:sldId id="445" r:id="rId64"/>
    <p:sldId id="446" r:id="rId65"/>
    <p:sldId id="448" r:id="rId66"/>
  </p:sldIdLst>
  <p:sldSz cx="12192000" cy="6858000"/>
  <p:notesSz cx="9388475" cy="7102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BB928E10-A69C-42F6-8B07-A2FEAC067766}">
          <p14:sldIdLst>
            <p14:sldId id="383"/>
            <p14:sldId id="389"/>
          </p14:sldIdLst>
        </p14:section>
        <p14:section name="SLIDE STARTERS" id="{ACC24B29-0CC7-491A-A98A-CF7CBDBE501E}">
          <p14:sldIdLst>
            <p14:sldId id="379"/>
            <p14:sldId id="447"/>
            <p14:sldId id="385"/>
            <p14:sldId id="387"/>
            <p14:sldId id="388"/>
            <p14:sldId id="386"/>
            <p14:sldId id="392"/>
            <p14:sldId id="391"/>
            <p14:sldId id="393"/>
            <p14:sldId id="394"/>
            <p14:sldId id="395"/>
            <p14:sldId id="396"/>
            <p14:sldId id="397"/>
            <p14:sldId id="399"/>
            <p14:sldId id="398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1"/>
            <p14:sldId id="422"/>
            <p14:sldId id="423"/>
            <p14:sldId id="424"/>
            <p14:sldId id="425"/>
            <p14:sldId id="426"/>
            <p14:sldId id="430"/>
            <p14:sldId id="428"/>
            <p14:sldId id="429"/>
            <p14:sldId id="433"/>
            <p14:sldId id="432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46"/>
            <p14:sldId id="44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DC5924"/>
    <a:srgbClr val="B7472A"/>
    <a:srgbClr val="000000"/>
    <a:srgbClr val="FFFFFF"/>
    <a:srgbClr val="75D1FF"/>
    <a:srgbClr val="11161C"/>
    <a:srgbClr val="7F7F7F"/>
    <a:srgbClr val="F2F2F2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84972" autoAdjust="0"/>
  </p:normalViewPr>
  <p:slideViewPr>
    <p:cSldViewPr snapToGrid="0">
      <p:cViewPr varScale="1">
        <p:scale>
          <a:sx n="85" d="100"/>
          <a:sy n="85" d="100"/>
        </p:scale>
        <p:origin x="581" y="53"/>
      </p:cViewPr>
      <p:guideLst/>
    </p:cSldViewPr>
  </p:slideViewPr>
  <p:outlineViewPr>
    <p:cViewPr>
      <p:scale>
        <a:sx n="33" d="100"/>
        <a:sy n="33" d="100"/>
      </p:scale>
      <p:origin x="0" y="-11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8" d="100"/>
        <a:sy n="108" d="100"/>
      </p:scale>
      <p:origin x="0" y="-3162"/>
    </p:cViewPr>
  </p:sorterViewPr>
  <p:notesViewPr>
    <p:cSldViewPr snapToGrid="0">
      <p:cViewPr>
        <p:scale>
          <a:sx n="66" d="100"/>
          <a:sy n="66" d="100"/>
        </p:scale>
        <p:origin x="2539" y="2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CCA049B-3A46-4BDA-A8F5-2925B00FE570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DBAA5490-FD59-4087-AC7E-016E8A4124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4C46CEC-428A-4DD0-A7C7-21AF8DE33E93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4CBCEA92-F142-4D57-B507-37BDAF44710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use this title animation slide with a new image simply 1) move the top semi-transparent shape</a:t>
            </a:r>
            <a:r>
              <a:rPr lang="en-US" baseline="0" dirty="0"/>
              <a:t> </a:t>
            </a:r>
            <a:r>
              <a:rPr lang="en-US" dirty="0"/>
              <a:t>to the side, 2) delete placeholder image,</a:t>
            </a:r>
            <a:r>
              <a:rPr lang="en-US" baseline="0" dirty="0"/>
              <a:t> </a:t>
            </a:r>
            <a:br>
              <a:rPr lang="en-US" baseline="0" dirty="0"/>
            </a:br>
            <a:r>
              <a:rPr lang="en-US" baseline="0" dirty="0"/>
              <a:t>3) click on the picture icon to add a new picture, 4) </a:t>
            </a:r>
            <a:r>
              <a:rPr lang="en-US" dirty="0"/>
              <a:t>Move semi-transparent shape back to original position, 5) Update text on slide.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3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4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hyperlink" Target="http://www.nealanalytics.com/neal-creative/templates/" TargetMode="Externa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neal-creative/templates/" TargetMode="External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nealanalytics.com/neal-creative/templates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00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301043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numb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/>
          <p:cNvSpPr/>
          <p:nvPr userDrawn="1"/>
        </p:nvSpPr>
        <p:spPr>
          <a:xfrm>
            <a:off x="3803737" y="-65233"/>
            <a:ext cx="4584526" cy="2297766"/>
          </a:xfrm>
          <a:custGeom>
            <a:avLst/>
            <a:gdLst>
              <a:gd name="connsiteX0" fmla="*/ 278 w 4584526"/>
              <a:gd name="connsiteY0" fmla="*/ 0 h 2297766"/>
              <a:gd name="connsiteX1" fmla="*/ 4584248 w 4584526"/>
              <a:gd name="connsiteY1" fmla="*/ 0 h 2297766"/>
              <a:gd name="connsiteX2" fmla="*/ 4584526 w 4584526"/>
              <a:gd name="connsiteY2" fmla="*/ 5503 h 2297766"/>
              <a:gd name="connsiteX3" fmla="*/ 2292263 w 4584526"/>
              <a:gd name="connsiteY3" fmla="*/ 2297766 h 2297766"/>
              <a:gd name="connsiteX4" fmla="*/ 0 w 4584526"/>
              <a:gd name="connsiteY4" fmla="*/ 5503 h 229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4526" h="2297766">
                <a:moveTo>
                  <a:pt x="278" y="0"/>
                </a:moveTo>
                <a:lnTo>
                  <a:pt x="4584248" y="0"/>
                </a:lnTo>
                <a:lnTo>
                  <a:pt x="4584526" y="5503"/>
                </a:lnTo>
                <a:cubicBezTo>
                  <a:pt x="4584526" y="1271485"/>
                  <a:pt x="3558245" y="2297766"/>
                  <a:pt x="2292263" y="2297766"/>
                </a:cubicBezTo>
                <a:cubicBezTo>
                  <a:pt x="1026281" y="2297766"/>
                  <a:pt x="0" y="1271485"/>
                  <a:pt x="0" y="5503"/>
                </a:cubicBezTo>
                <a:close/>
              </a:path>
            </a:pathLst>
          </a:cu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7" name="Footer Placeholder 4"/>
          <p:cNvSpPr txBox="1">
            <a:spLocks/>
          </p:cNvSpPr>
          <p:nvPr userDrawn="1"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02995" y="3383280"/>
            <a:ext cx="11660405" cy="625641"/>
          </a:xfrm>
          <a:prstGeom prst="rect">
            <a:avLst/>
          </a:prstGeom>
        </p:spPr>
        <p:txBody>
          <a:bodyPr vert="horz" lIns="457200" tIns="45720" rIns="45720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i="0" kern="1200" spc="40" baseline="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CLICK TO EDIT MASTER TITLE STYLE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923323" y="186061"/>
            <a:ext cx="4376615" cy="627351"/>
          </a:xfrm>
        </p:spPr>
        <p:txBody>
          <a:bodyPr/>
          <a:lstStyle>
            <a:lvl1pPr algn="ctr">
              <a:defRPr sz="2000">
                <a:solidFill>
                  <a:schemeClr val="bg1"/>
                </a:solidFill>
              </a:defRPr>
            </a:lvl1pPr>
            <a:lvl2pPr algn="ctr">
              <a:defRPr sz="14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Your Section Title Here</a:t>
            </a:r>
          </a:p>
          <a:p>
            <a:pPr lvl="1"/>
            <a:r>
              <a:rPr lang="en-US" dirty="0"/>
              <a:t>1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304801" y="4206240"/>
            <a:ext cx="11658600" cy="424732"/>
          </a:xfrm>
        </p:spPr>
        <p:txBody>
          <a:bodyPr lIns="457200" rIns="4572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4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rPr>
              <a:t>Add a short summary sentence here about title/statement above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5737094" y="1007413"/>
            <a:ext cx="792205" cy="1200329"/>
          </a:xfrm>
        </p:spPr>
        <p:txBody>
          <a:bodyPr wrap="none" anchor="ctr"/>
          <a:lstStyle>
            <a:lvl1pPr algn="ctr">
              <a:defRPr kumimoji="0" lang="en-US" sz="8000" b="1" i="0" u="none" strike="noStrike" kern="1200" cap="none" spc="0" normalizeH="0" baseline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4187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ONUT BASE SECTION DIVI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 userDrawn="1"/>
        </p:nvSpPr>
        <p:spPr>
          <a:xfrm>
            <a:off x="2861702" y="157952"/>
            <a:ext cx="6483179" cy="648317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48777" y="2935629"/>
            <a:ext cx="5208335" cy="92782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95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9" name="dots"/>
          <p:cNvSpPr>
            <a:spLocks noChangeAspect="1"/>
          </p:cNvSpPr>
          <p:nvPr userDrawn="1"/>
        </p:nvSpPr>
        <p:spPr>
          <a:xfrm>
            <a:off x="3448777" y="745024"/>
            <a:ext cx="5309024" cy="5309025"/>
          </a:xfrm>
          <a:prstGeom prst="ellipse">
            <a:avLst/>
          </a:prstGeom>
          <a:noFill/>
          <a:ln w="184150" cap="rnd" cmpd="sng" algn="ctr">
            <a:solidFill>
              <a:schemeClr val="accent4"/>
            </a:solidFill>
            <a:prstDash val="sysDot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6376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ote dark option FLUSH LEFT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26628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dark option CENTERED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algn="ctr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031631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Quote dark option FLUSH LE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 b="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207573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light option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5648960" y="419100"/>
            <a:ext cx="89408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solidFill>
                  <a:schemeClr val="accent4"/>
                </a:solidFill>
                <a:latin typeface="Arial Black" panose="020B0A04020102020204" pitchFamily="34" charset="0"/>
              </a:rPr>
              <a:t>“</a:t>
            </a:r>
            <a:endParaRPr lang="en-US" sz="2800" dirty="0">
              <a:solidFill>
                <a:schemeClr val="accent4"/>
              </a:solidFill>
            </a:endParaRP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408362" y="5335071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tx2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22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ark Callout with small Non-bullet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597273"/>
            <a:ext cx="4868985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357295"/>
          </a:xfrm>
          <a:prstGeom prst="rect">
            <a:avLst/>
          </a:prstGeom>
        </p:spPr>
        <p:txBody>
          <a:bodyPr lIns="146304" tIns="420624" rIns="146304" anchor="t" anchorCtr="0"/>
          <a:lstStyle>
            <a:lvl1pPr algn="ctr"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599498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779896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200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472751"/>
            <a:ext cx="4566001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750600" y="6484937"/>
            <a:ext cx="42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697329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975558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67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03178 0.00047 " pathEditMode="relative" rAng="0" ptsTypes="AA">
                                      <p:cBhvr>
                                        <p:cTn id="9" dur="7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8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4" grpId="1" build="p">
        <p:tmplLst>
          <p:tmpl lvl="1">
            <p:tnLst>
              <p:par>
                <p:cTn presetID="63" presetClass="path" presetSubtype="0" accel="50000" decel="50000" fill="hold" nodeType="withEffect">
                  <p:stCondLst>
                    <p:cond delay="0"/>
                  </p:stCondLst>
                  <p:childTnLst>
                    <p:animMotion origin="layout" path="M -4.375E-6 -4.07407E-6 L 0.03178 0.00047 " pathEditMode="relative" rAng="0" ptsTypes="AA">
                      <p:cBhvr>
                        <p:cTn dur="750" fill="hold"/>
                        <p:tgtEl>
                          <p:spTgt spid="4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1589" y="23"/>
                    </p:animMotion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431800"/>
            <a:ext cx="5371038" cy="1830245"/>
          </a:xfrm>
        </p:spPr>
        <p:txBody>
          <a:bodyPr wrap="square" lIns="146304" rIns="146304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293687" y="3436331"/>
            <a:ext cx="2286000" cy="1802032"/>
          </a:xfrm>
        </p:spPr>
        <p:txBody>
          <a:bodyPr lIns="182880" tIns="146304" rIns="182880"/>
          <a:lstStyle>
            <a:lvl1pPr marL="0" indent="0" algn="l">
              <a:buNone/>
              <a:defRPr sz="1600" b="1">
                <a:latin typeface="+mn-lt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>
                <a:latin typeface="+mn-lt"/>
              </a:defRPr>
            </a:lvl3pPr>
            <a:lvl4pPr marL="0" indent="0" algn="l">
              <a:buNone/>
              <a:defRPr sz="1100">
                <a:latin typeface="+mn-lt"/>
              </a:defRPr>
            </a:lvl4pPr>
            <a:lvl5pPr marL="0" indent="0" algn="l">
              <a:buNone/>
              <a:defRPr sz="11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266101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502834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sz="1400" b="0">
                <a:solidFill>
                  <a:schemeClr val="tx1"/>
                </a:solidFill>
                <a:latin typeface="+mn-lt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739567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9763006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80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2598127"/>
            <a:ext cx="3714704" cy="2524794"/>
          </a:xfrm>
        </p:spPr>
        <p:txBody>
          <a:bodyPr lIns="91440" rIns="91440"/>
          <a:lstStyle>
            <a:lvl1pPr algn="ctr">
              <a:spcAft>
                <a:spcPts val="3000"/>
              </a:spcAft>
              <a:defRPr sz="24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4168631" y="2598127"/>
            <a:ext cx="3840480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8158238" y="2598127"/>
            <a:ext cx="3773077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reeform: Shape 10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16322" y="339408"/>
            <a:ext cx="2375877" cy="535531"/>
          </a:xfrm>
        </p:spPr>
        <p:txBody>
          <a:bodyPr/>
          <a:lstStyle>
            <a:lvl1pPr algn="ctr"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2879003" y="419100"/>
            <a:ext cx="9084398" cy="13700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865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58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2483635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4898612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/>
          </p:nvPr>
        </p:nvSpPr>
        <p:spPr>
          <a:xfrm>
            <a:off x="7313589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/>
          </p:nvPr>
        </p:nvSpPr>
        <p:spPr>
          <a:xfrm>
            <a:off x="9728566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297258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2712235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/>
          <p:cNvSpPr/>
          <p:nvPr userDrawn="1"/>
        </p:nvSpPr>
        <p:spPr>
          <a:xfrm>
            <a:off x="7542189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9957166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5127212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70361"/>
            <a:ext cx="12192000" cy="535531"/>
          </a:xfrm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2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68658" y="2577396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9" hasCustomPrompt="1"/>
          </p:nvPr>
        </p:nvSpPr>
        <p:spPr>
          <a:xfrm>
            <a:off x="2483635" y="2577396"/>
            <a:ext cx="2377440" cy="840230"/>
          </a:xfrm>
        </p:spPr>
        <p:txBody>
          <a:bodyPr lIns="146304" rIns="146304"/>
          <a:lstStyle>
            <a:lvl1pPr algn="ctr">
              <a:defRPr lang="en-US" sz="5400" b="1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#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20" hasCustomPrompt="1"/>
          </p:nvPr>
        </p:nvSpPr>
        <p:spPr>
          <a:xfrm>
            <a:off x="4898612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21" hasCustomPrompt="1"/>
          </p:nvPr>
        </p:nvSpPr>
        <p:spPr>
          <a:xfrm>
            <a:off x="7313589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idx="22" hasCustomPrompt="1"/>
          </p:nvPr>
        </p:nvSpPr>
        <p:spPr>
          <a:xfrm>
            <a:off x="9728566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2491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 dirty="0"/>
              <a:t>Click icon to add pictures or go online at…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805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193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37561" y="6484937"/>
            <a:ext cx="387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096000" cy="2594043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48957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Slide Number Placeholder 7"/>
          <p:cNvSpPr txBox="1">
            <a:spLocks/>
          </p:cNvSpPr>
          <p:nvPr userDrawn="1"/>
        </p:nvSpPr>
        <p:spPr>
          <a:xfrm>
            <a:off x="10343911" y="6498718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997E989-D798-4C62-8E93-3D2D613C2488}" type="slidenum">
              <a:rPr lang="en-US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9579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12930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233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4443" y="3425619"/>
            <a:ext cx="6097555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094443" y="1554163"/>
            <a:ext cx="6097556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20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0" y="0"/>
            <a:ext cx="6094444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80534" y="3429000"/>
            <a:ext cx="6011466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180534" y="1554163"/>
            <a:ext cx="57912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2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61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0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38266" y="3457545"/>
            <a:ext cx="6053733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6138267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50/50 photo layout</a:t>
            </a:r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845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6000" y="2356398"/>
            <a:ext cx="6096000" cy="2145203"/>
          </a:xfrm>
        </p:spPr>
        <p:txBody>
          <a:bodyPr anchor="ctr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ts val="2400"/>
              </a:spcBef>
              <a:spcAft>
                <a:spcPts val="6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spcBef>
                <a:spcPts val="0"/>
              </a:spcBef>
              <a:spcAft>
                <a:spcPts val="600"/>
              </a:spcAft>
              <a:defRPr sz="2800"/>
            </a:lvl2pPr>
            <a:lvl3pPr algn="ctr">
              <a:spcBef>
                <a:spcPts val="0"/>
              </a:spcBef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spcBef>
                <a:spcPts val="0"/>
              </a:spcBef>
              <a:spcAft>
                <a:spcPts val="600"/>
              </a:spcAft>
              <a:defRPr sz="2000" b="1"/>
            </a:lvl4pPr>
            <a:lvl5pPr algn="ctr">
              <a:spcBef>
                <a:spcPts val="0"/>
              </a:spcBef>
              <a:spcAft>
                <a:spcPts val="600"/>
              </a:spcAft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548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0413" cy="6858000"/>
          </a:xfrm>
          <a:blipFill>
            <a:blip r:embed="rId2"/>
            <a:stretch>
              <a:fillRect/>
            </a:stretch>
          </a:blipFill>
        </p:spPr>
        <p:txBody>
          <a:bodyPr anchor="ctr" anchorCtr="0">
            <a:noAutofit/>
          </a:bodyPr>
          <a:lstStyle>
            <a:lvl1pPr algn="r">
              <a:defRPr baseline="0"/>
            </a:lvl1pPr>
          </a:lstStyle>
          <a:p>
            <a:r>
              <a:rPr lang="en-US" dirty="0"/>
              <a:t>Full Bleed Picture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304800" y="3429000"/>
            <a:ext cx="5960269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04800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Headline</a:t>
            </a:r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40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1981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 noChangeAspect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lIns="91440">
            <a:noAutofit/>
          </a:bodyPr>
          <a:lstStyle>
            <a:lvl1pPr algn="ctr">
              <a:defRPr/>
            </a:lvl1pPr>
          </a:lstStyle>
          <a:p>
            <a:r>
              <a:rPr lang="en-US" baseline="0"/>
              <a:t>Click icon to add picture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6652" y="2567613"/>
            <a:ext cx="8804365" cy="1403495"/>
          </a:xfrm>
          <a:prstGeom prst="rect">
            <a:avLst/>
          </a:prstGeom>
        </p:spPr>
        <p:txBody>
          <a:bodyPr/>
          <a:lstStyle>
            <a:lvl1pPr algn="l">
              <a:defRPr lang="en-US" sz="8800" b="1" i="0" kern="1200" spc="1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581150" y="3971108"/>
            <a:ext cx="9461500" cy="757130"/>
          </a:xfrm>
        </p:spPr>
        <p:txBody>
          <a:bodyPr/>
          <a:lstStyle>
            <a:lvl1pPr algn="l">
              <a:defRPr lang="en-US" sz="4800" b="1" i="0" kern="1200" spc="300" dirty="0" smtClean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40735672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sz="quarter" idx="13"/>
          </p:nvPr>
        </p:nvSpPr>
        <p:spPr>
          <a:xfrm>
            <a:off x="0" y="0"/>
            <a:ext cx="12066954" cy="6858000"/>
          </a:xfrm>
        </p:spPr>
        <p:txBody>
          <a:bodyPr anchor="ctr">
            <a:noAutofit/>
          </a:bodyPr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958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6482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4BDA58-9C93-4222-A4EC-4BEB46CE06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1649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FC5E276D-531E-45A9-B450-EFEC62CDC8DF}"/>
              </a:ext>
            </a:extLst>
          </p:cNvPr>
          <p:cNvSpPr txBox="1"/>
          <p:nvPr userDrawn="1"/>
        </p:nvSpPr>
        <p:spPr>
          <a:xfrm>
            <a:off x="4961284" y="93791"/>
            <a:ext cx="2269433" cy="316517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7" name="TextBox 6">
            <a:hlinkClick r:id="rId4"/>
          </p:cNvPr>
          <p:cNvSpPr txBox="1"/>
          <p:nvPr userDrawn="1"/>
        </p:nvSpPr>
        <p:spPr>
          <a:xfrm>
            <a:off x="0" y="6548363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tx1"/>
                </a:solidFill>
              </a:rPr>
              <a:t>Neal Creative </a:t>
            </a: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tx1"/>
                </a:solidFill>
              </a:rPr>
              <a:t> </a:t>
            </a:r>
            <a:endParaRPr lang="en-US" sz="1000" b="1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F273A61-5610-4355-89F3-7C90515BFCC9}"/>
              </a:ext>
            </a:extLst>
          </p:cNvPr>
          <p:cNvGrpSpPr/>
          <p:nvPr userDrawn="1"/>
        </p:nvGrpSpPr>
        <p:grpSpPr>
          <a:xfrm>
            <a:off x="5976075" y="3634505"/>
            <a:ext cx="1700633" cy="1798732"/>
            <a:chOff x="5976075" y="3634505"/>
            <a:chExt cx="1700633" cy="179873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A49345F-7A53-4131-8BB4-087032A6CC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061135" y="4142336"/>
              <a:ext cx="860601" cy="129090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96D35F-1F19-4447-829C-790DF2B8D2DD}"/>
                </a:ext>
              </a:extLst>
            </p:cNvPr>
            <p:cNvSpPr txBox="1"/>
            <p:nvPr/>
          </p:nvSpPr>
          <p:spPr>
            <a:xfrm>
              <a:off x="5976075" y="3634505"/>
              <a:ext cx="1700633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TIP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│ Use the built-in c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olor palette with green and yellow for callouts and accents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3556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E516C148-33F4-423B-AB9D-096AA82E12F1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Neal Creative </a:t>
            </a:r>
            <a:r>
              <a:rPr lang="en-US" sz="900" kern="1200" noProof="0" dirty="0">
                <a:solidFill>
                  <a:schemeClr val="bg2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noProof="0" dirty="0">
                <a:solidFill>
                  <a:schemeClr val="bg2">
                    <a:lumMod val="50000"/>
                  </a:schemeClr>
                </a:solidFill>
              </a:rPr>
              <a:t> </a:t>
            </a:r>
            <a:endParaRPr lang="en-US" sz="1000" b="1" noProof="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620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Box 11">
            <a:hlinkClick r:id="rId3"/>
            <a:extLst>
              <a:ext uri="{FF2B5EF4-FFF2-40B4-BE49-F238E27FC236}">
                <a16:creationId xmlns:a16="http://schemas.microsoft.com/office/drawing/2014/main" id="{B2DA80A1-9E22-4BFF-8562-466123B36943}"/>
              </a:ext>
            </a:extLst>
          </p:cNvPr>
          <p:cNvSpPr txBox="1"/>
          <p:nvPr userDrawn="1"/>
        </p:nvSpPr>
        <p:spPr>
          <a:xfrm>
            <a:off x="9089198" y="6298102"/>
            <a:ext cx="2466220" cy="367873"/>
          </a:xfrm>
          <a:prstGeom prst="roundRect">
            <a:avLst>
              <a:gd name="adj" fmla="val 50000"/>
            </a:avLst>
          </a:prstGeom>
          <a:solidFill>
            <a:srgbClr val="004568"/>
          </a:solidFill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419099"/>
            <a:ext cx="8917577" cy="6259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1AF511EA-044E-4300-B921-D56138FE402E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n-US" sz="9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bg1">
                    <a:lumMod val="75000"/>
                  </a:schemeClr>
                </a:solidFill>
              </a:rPr>
              <a:t> </a:t>
            </a:r>
            <a:endParaRPr lang="en-US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234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75347"/>
            <a:ext cx="11658600" cy="187076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04800" y="419100"/>
            <a:ext cx="11658600" cy="590931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51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12" r:id="rId2"/>
    <p:sldLayoutId id="2147483672" r:id="rId3"/>
    <p:sldLayoutId id="2147483749" r:id="rId4"/>
    <p:sldLayoutId id="2147483750" r:id="rId5"/>
    <p:sldLayoutId id="2147483752" r:id="rId6"/>
    <p:sldLayoutId id="2147483674" r:id="rId7"/>
    <p:sldLayoutId id="2147483720" r:id="rId8"/>
    <p:sldLayoutId id="2147483721" r:id="rId9"/>
    <p:sldLayoutId id="2147483732" r:id="rId10"/>
    <p:sldLayoutId id="2147483730" r:id="rId11"/>
    <p:sldLayoutId id="2147483716" r:id="rId12"/>
    <p:sldLayoutId id="2147483735" r:id="rId13"/>
    <p:sldLayoutId id="2147483700" r:id="rId14"/>
    <p:sldLayoutId id="2147483734" r:id="rId15"/>
    <p:sldLayoutId id="2147483701" r:id="rId16"/>
    <p:sldLayoutId id="2147483736" r:id="rId17"/>
    <p:sldLayoutId id="2147483733" r:id="rId18"/>
    <p:sldLayoutId id="2147483741" r:id="rId19"/>
    <p:sldLayoutId id="2147483727" r:id="rId20"/>
    <p:sldLayoutId id="2147483719" r:id="rId21"/>
    <p:sldLayoutId id="2147483655" r:id="rId22"/>
    <p:sldLayoutId id="2147483748" r:id="rId23"/>
    <p:sldLayoutId id="2147483753" r:id="rId24"/>
    <p:sldLayoutId id="2147483747" r:id="rId25"/>
    <p:sldLayoutId id="2147483745" r:id="rId26"/>
    <p:sldLayoutId id="2147483737" r:id="rId2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i="0" kern="1200" spc="300" dirty="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7536" userDrawn="1">
          <p15:clr>
            <a:srgbClr val="F26B43"/>
          </p15:clr>
        </p15:guide>
        <p15:guide id="5" orient="horz" pos="264" userDrawn="1">
          <p15:clr>
            <a:srgbClr val="F26B43"/>
          </p15:clr>
        </p15:guide>
        <p15:guide id="6" orient="horz" pos="792" userDrawn="1">
          <p15:clr>
            <a:srgbClr val="F26B43"/>
          </p15:clr>
        </p15:guide>
        <p15:guide id="7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Placeholder 30"/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val 9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val 10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mpd="thinThick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46" name="Rectangle 45"/>
          <p:cNvSpPr/>
          <p:nvPr/>
        </p:nvSpPr>
        <p:spPr>
          <a:xfrm flipH="1">
            <a:off x="7911255" y="4253573"/>
            <a:ext cx="2995659" cy="7040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90000"/>
              </a:lnSpc>
            </a:pPr>
            <a:r>
              <a:rPr lang="en-US" sz="2800" dirty="0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EDA and </a:t>
            </a:r>
            <a:r>
              <a:rPr lang="en-US" sz="2800" dirty="0" err="1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vizualizaions</a:t>
            </a:r>
            <a:endParaRPr lang="en-US" sz="2800" dirty="0">
              <a:gradFill>
                <a:gsLst>
                  <a:gs pos="0">
                    <a:srgbClr val="75D1FF">
                      <a:lumMod val="5000"/>
                      <a:lumOff val="95000"/>
                    </a:srgbClr>
                  </a:gs>
                  <a:gs pos="100000">
                    <a:srgbClr val="FFFFFF"/>
                  </a:gs>
                </a:gsLst>
                <a:lin ang="5400000" scaled="1"/>
              </a:gradFill>
            </a:endParaRPr>
          </a:p>
        </p:txBody>
      </p:sp>
      <p:sp>
        <p:nvSpPr>
          <p:cNvPr id="9" name="Title 6"/>
          <p:cNvSpPr txBox="1">
            <a:spLocks/>
          </p:cNvSpPr>
          <p:nvPr/>
        </p:nvSpPr>
        <p:spPr>
          <a:xfrm>
            <a:off x="1679957" y="3280601"/>
            <a:ext cx="5909265" cy="874205"/>
          </a:xfrm>
          <a:prstGeom prst="rect">
            <a:avLst/>
          </a:prstGeom>
        </p:spPr>
        <p:txBody>
          <a:bodyPr vert="horz" lIns="91440" tIns="0" rIns="91440" bIns="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i="0" kern="12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sz="8800" spc="-300" dirty="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chemeClr val="bg1"/>
                  </a:gs>
                </a:gsLst>
                <a:lin ang="5400000" scaled="1"/>
              </a:gradFill>
              <a:latin typeface="+mn-lt"/>
            </a:endParaRPr>
          </a:p>
        </p:txBody>
      </p:sp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687847" y="2461199"/>
            <a:ext cx="8804365" cy="840230"/>
          </a:xfrm>
        </p:spPr>
        <p:txBody>
          <a:bodyPr/>
          <a:lstStyle/>
          <a:p>
            <a:r>
              <a:rPr lang="en-US" sz="5400" dirty="0"/>
              <a:t>Credit Card Clustering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1396266" y="3162946"/>
            <a:ext cx="9461500" cy="1311128"/>
          </a:xfrm>
        </p:spPr>
        <p:txBody>
          <a:bodyPr/>
          <a:lstStyle/>
          <a:p>
            <a:r>
              <a:rPr lang="en-US" dirty="0"/>
              <a:t>PRESENTATIONS</a:t>
            </a:r>
            <a:r>
              <a:rPr lang="en-US" sz="8800" spc="-300" dirty="0"/>
              <a:t>!</a:t>
            </a:r>
            <a:r>
              <a:rPr lang="en-US" dirty="0"/>
              <a:t> </a:t>
            </a:r>
          </a:p>
        </p:txBody>
      </p:sp>
      <p:sp>
        <p:nvSpPr>
          <p:cNvPr id="19" name="Freeform: Shape 18"/>
          <p:cNvSpPr/>
          <p:nvPr/>
        </p:nvSpPr>
        <p:spPr>
          <a:xfrm>
            <a:off x="7066536" y="4361548"/>
            <a:ext cx="488128" cy="488128"/>
          </a:xfrm>
          <a:custGeom>
            <a:avLst/>
            <a:gdLst>
              <a:gd name="connsiteX0" fmla="*/ 244064 w 488128"/>
              <a:gd name="connsiteY0" fmla="*/ 0 h 488128"/>
              <a:gd name="connsiteX1" fmla="*/ 488128 w 488128"/>
              <a:gd name="connsiteY1" fmla="*/ 244064 h 488128"/>
              <a:gd name="connsiteX2" fmla="*/ 244064 w 488128"/>
              <a:gd name="connsiteY2" fmla="*/ 488128 h 488128"/>
              <a:gd name="connsiteX3" fmla="*/ 0 w 488128"/>
              <a:gd name="connsiteY3" fmla="*/ 244064 h 488128"/>
              <a:gd name="connsiteX4" fmla="*/ 244064 w 488128"/>
              <a:gd name="connsiteY4" fmla="*/ 0 h 488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8128" h="488128">
                <a:moveTo>
                  <a:pt x="244064" y="0"/>
                </a:moveTo>
                <a:cubicBezTo>
                  <a:pt x="378857" y="0"/>
                  <a:pt x="488128" y="109271"/>
                  <a:pt x="488128" y="244064"/>
                </a:cubicBezTo>
                <a:cubicBezTo>
                  <a:pt x="488128" y="378857"/>
                  <a:pt x="378857" y="488128"/>
                  <a:pt x="244064" y="488128"/>
                </a:cubicBezTo>
                <a:cubicBezTo>
                  <a:pt x="109271" y="488128"/>
                  <a:pt x="0" y="378857"/>
                  <a:pt x="0" y="244064"/>
                </a:cubicBezTo>
                <a:cubicBezTo>
                  <a:pt x="0" y="109271"/>
                  <a:pt x="109271" y="0"/>
                  <a:pt x="24406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2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25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46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C7E8-586B-4E47-91C9-9B6EB5349A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1-EDA</a:t>
            </a:r>
          </a:p>
        </p:txBody>
      </p:sp>
    </p:spTree>
    <p:extLst>
      <p:ext uri="{BB962C8B-B14F-4D97-AF65-F5344CB8AC3E}">
        <p14:creationId xmlns:p14="http://schemas.microsoft.com/office/powerpoint/2010/main" val="3969428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1760200" y="6465888"/>
            <a:ext cx="431800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2688" y="243410"/>
            <a:ext cx="670312" cy="580653"/>
          </a:xfrm>
          <a:custGeom>
            <a:avLst/>
            <a:gdLst>
              <a:gd name="connsiteX0" fmla="*/ 603423 w 670312"/>
              <a:gd name="connsiteY0" fmla="*/ 0 h 580653"/>
              <a:gd name="connsiteX1" fmla="*/ 670312 w 670312"/>
              <a:gd name="connsiteY1" fmla="*/ 126662 h 580653"/>
              <a:gd name="connsiteX2" fmla="*/ 557170 w 670312"/>
              <a:gd name="connsiteY2" fmla="*/ 203157 h 580653"/>
              <a:gd name="connsiteX3" fmla="*/ 522302 w 670312"/>
              <a:gd name="connsiteY3" fmla="*/ 293172 h 580653"/>
              <a:gd name="connsiteX4" fmla="*/ 670312 w 670312"/>
              <a:gd name="connsiteY4" fmla="*/ 293172 h 580653"/>
              <a:gd name="connsiteX5" fmla="*/ 670312 w 670312"/>
              <a:gd name="connsiteY5" fmla="*/ 580653 h 580653"/>
              <a:gd name="connsiteX6" fmla="*/ 360772 w 670312"/>
              <a:gd name="connsiteY6" fmla="*/ 580653 h 580653"/>
              <a:gd name="connsiteX7" fmla="*/ 360772 w 670312"/>
              <a:gd name="connsiteY7" fmla="*/ 342272 h 580653"/>
              <a:gd name="connsiteX8" fmla="*/ 415564 w 670312"/>
              <a:gd name="connsiteY8" fmla="*/ 134489 h 580653"/>
              <a:gd name="connsiteX9" fmla="*/ 603423 w 670312"/>
              <a:gd name="connsiteY9" fmla="*/ 0 h 580653"/>
              <a:gd name="connsiteX10" fmla="*/ 242650 w 670312"/>
              <a:gd name="connsiteY10" fmla="*/ 0 h 580653"/>
              <a:gd name="connsiteX11" fmla="*/ 309539 w 670312"/>
              <a:gd name="connsiteY11" fmla="*/ 126662 h 580653"/>
              <a:gd name="connsiteX12" fmla="*/ 196397 w 670312"/>
              <a:gd name="connsiteY12" fmla="*/ 203157 h 580653"/>
              <a:gd name="connsiteX13" fmla="*/ 161530 w 670312"/>
              <a:gd name="connsiteY13" fmla="*/ 293172 h 580653"/>
              <a:gd name="connsiteX14" fmla="*/ 309539 w 670312"/>
              <a:gd name="connsiteY14" fmla="*/ 293172 h 580653"/>
              <a:gd name="connsiteX15" fmla="*/ 309539 w 670312"/>
              <a:gd name="connsiteY15" fmla="*/ 580653 h 580653"/>
              <a:gd name="connsiteX16" fmla="*/ 0 w 670312"/>
              <a:gd name="connsiteY16" fmla="*/ 580653 h 580653"/>
              <a:gd name="connsiteX17" fmla="*/ 0 w 670312"/>
              <a:gd name="connsiteY17" fmla="*/ 342272 h 580653"/>
              <a:gd name="connsiteX18" fmla="*/ 54792 w 670312"/>
              <a:gd name="connsiteY18" fmla="*/ 134489 h 580653"/>
              <a:gd name="connsiteX19" fmla="*/ 242650 w 670312"/>
              <a:gd name="connsiteY19" fmla="*/ 0 h 580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70312" h="580653">
                <a:moveTo>
                  <a:pt x="603423" y="0"/>
                </a:moveTo>
                <a:lnTo>
                  <a:pt x="670312" y="126662"/>
                </a:lnTo>
                <a:cubicBezTo>
                  <a:pt x="615757" y="152279"/>
                  <a:pt x="578043" y="177777"/>
                  <a:pt x="557170" y="203157"/>
                </a:cubicBezTo>
                <a:cubicBezTo>
                  <a:pt x="536297" y="228537"/>
                  <a:pt x="524674" y="258542"/>
                  <a:pt x="522302" y="293172"/>
                </a:cubicBezTo>
                <a:lnTo>
                  <a:pt x="670312" y="293172"/>
                </a:lnTo>
                <a:lnTo>
                  <a:pt x="670312" y="580653"/>
                </a:lnTo>
                <a:lnTo>
                  <a:pt x="360772" y="580653"/>
                </a:lnTo>
                <a:lnTo>
                  <a:pt x="360772" y="342272"/>
                </a:lnTo>
                <a:cubicBezTo>
                  <a:pt x="360772" y="254510"/>
                  <a:pt x="379036" y="185249"/>
                  <a:pt x="415564" y="134489"/>
                </a:cubicBezTo>
                <a:cubicBezTo>
                  <a:pt x="452092" y="83729"/>
                  <a:pt x="514712" y="38900"/>
                  <a:pt x="603423" y="0"/>
                </a:cubicBezTo>
                <a:close/>
                <a:moveTo>
                  <a:pt x="242650" y="0"/>
                </a:moveTo>
                <a:lnTo>
                  <a:pt x="309539" y="126662"/>
                </a:lnTo>
                <a:cubicBezTo>
                  <a:pt x="254985" y="152279"/>
                  <a:pt x="217271" y="177777"/>
                  <a:pt x="196397" y="203157"/>
                </a:cubicBezTo>
                <a:cubicBezTo>
                  <a:pt x="175524" y="228537"/>
                  <a:pt x="163902" y="258542"/>
                  <a:pt x="161530" y="293172"/>
                </a:cubicBezTo>
                <a:lnTo>
                  <a:pt x="309539" y="293172"/>
                </a:lnTo>
                <a:lnTo>
                  <a:pt x="309539" y="580653"/>
                </a:lnTo>
                <a:lnTo>
                  <a:pt x="0" y="580653"/>
                </a:lnTo>
                <a:lnTo>
                  <a:pt x="0" y="342272"/>
                </a:lnTo>
                <a:cubicBezTo>
                  <a:pt x="0" y="254510"/>
                  <a:pt x="18264" y="185249"/>
                  <a:pt x="54792" y="134489"/>
                </a:cubicBezTo>
                <a:cubicBezTo>
                  <a:pt x="91320" y="83729"/>
                  <a:pt x="153940" y="38900"/>
                  <a:pt x="2426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2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F5AF21-1767-4086-B80B-E7FB161CCF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377" y="639397"/>
            <a:ext cx="4639236" cy="646331"/>
          </a:xfrm>
        </p:spPr>
        <p:txBody>
          <a:bodyPr/>
          <a:lstStyle/>
          <a:p>
            <a:pPr algn="l"/>
            <a:r>
              <a:rPr lang="en-US" dirty="0"/>
              <a:t>Let’s Get some information about the data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2CC5FD-6C76-4154-9219-59F0D358C0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214" y="1615485"/>
            <a:ext cx="8695561" cy="4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10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B18B-19BF-47C9-81E2-600D7B3486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65658" y="2868701"/>
            <a:ext cx="5096624" cy="1006429"/>
          </a:xfrm>
        </p:spPr>
        <p:txBody>
          <a:bodyPr/>
          <a:lstStyle/>
          <a:p>
            <a:r>
              <a:rPr lang="en-US" dirty="0"/>
              <a:t>There’s no duplicated data and few missing values in “Minimum payments column”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4B3B1-2A82-4B18-8CC4-C55E8A47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9432A4-8314-4D58-BDDD-9512E908F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737" y="53340"/>
            <a:ext cx="4083304" cy="1800493"/>
          </a:xfrm>
        </p:spPr>
        <p:txBody>
          <a:bodyPr/>
          <a:lstStyle/>
          <a:p>
            <a:r>
              <a:rPr lang="en-US" sz="3200" dirty="0"/>
              <a:t>Checking Missing values and duplicates</a:t>
            </a:r>
            <a:br>
              <a:rPr lang="en-US" sz="3200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ABEC54-A7D1-405A-ADF2-CF10CEE9166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5559" y="1234441"/>
            <a:ext cx="5096624" cy="496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20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4B3B1-2A82-4B18-8CC4-C55E8A47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9432A4-8314-4D58-BDDD-9512E908F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97" y="0"/>
            <a:ext cx="4083304" cy="1357295"/>
          </a:xfrm>
        </p:spPr>
        <p:txBody>
          <a:bodyPr/>
          <a:lstStyle/>
          <a:p>
            <a:r>
              <a:rPr lang="en-US" sz="3200" dirty="0"/>
              <a:t>Checking outliers</a:t>
            </a:r>
            <a:br>
              <a:rPr lang="en-US" sz="3200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BBB575-4EAE-43CE-90AE-57206E0BC6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52" y="2456919"/>
            <a:ext cx="9966959" cy="4401081"/>
          </a:xfrm>
          <a:prstGeom prst="rect">
            <a:avLst/>
          </a:prstGeom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6479889-C1B4-42F0-BEE7-BA2CC11CE9DF}"/>
              </a:ext>
            </a:extLst>
          </p:cNvPr>
          <p:cNvSpPr txBox="1">
            <a:spLocks/>
          </p:cNvSpPr>
          <p:nvPr/>
        </p:nvSpPr>
        <p:spPr>
          <a:xfrm>
            <a:off x="4527272" y="1791239"/>
            <a:ext cx="5096624" cy="3970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kern="120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65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1568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Almost all columns have outliers</a:t>
            </a:r>
          </a:p>
        </p:txBody>
      </p:sp>
    </p:spTree>
    <p:extLst>
      <p:ext uri="{BB962C8B-B14F-4D97-AF65-F5344CB8AC3E}">
        <p14:creationId xmlns:p14="http://schemas.microsoft.com/office/powerpoint/2010/main" val="1884966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1C8237-5734-4117-8C97-7B7351FD83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09697" y="328565"/>
            <a:ext cx="5447487" cy="590931"/>
          </a:xfrm>
        </p:spPr>
        <p:txBody>
          <a:bodyPr/>
          <a:lstStyle/>
          <a:p>
            <a:r>
              <a:rPr lang="en-US" dirty="0"/>
              <a:t>What about null values?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09E32-51FF-4E94-B271-63EC21F9A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10" y="2185716"/>
            <a:ext cx="3559352" cy="3139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6AC513-54BA-4B8A-BB4D-E2E69F0F35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2791" y="2237822"/>
            <a:ext cx="5585944" cy="6706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293407-2AD0-4023-AC4D-90EC2122B166}"/>
              </a:ext>
            </a:extLst>
          </p:cNvPr>
          <p:cNvSpPr txBox="1"/>
          <p:nvPr/>
        </p:nvSpPr>
        <p:spPr>
          <a:xfrm>
            <a:off x="4142791" y="4226767"/>
            <a:ext cx="6232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Almost all The values of “Payments” columns = 0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so can replace all this null values in “Minimum Payments“ column with zero.</a:t>
            </a:r>
          </a:p>
        </p:txBody>
      </p:sp>
    </p:spTree>
    <p:extLst>
      <p:ext uri="{BB962C8B-B14F-4D97-AF65-F5344CB8AC3E}">
        <p14:creationId xmlns:p14="http://schemas.microsoft.com/office/powerpoint/2010/main" val="2708339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2768599"/>
            <a:ext cx="5208335" cy="1261884"/>
          </a:xfrm>
        </p:spPr>
        <p:txBody>
          <a:bodyPr/>
          <a:lstStyle/>
          <a:p>
            <a:r>
              <a:rPr lang="en-US" dirty="0"/>
              <a:t>2-PREPROCESSING	</a:t>
            </a:r>
          </a:p>
        </p:txBody>
      </p:sp>
    </p:spTree>
    <p:extLst>
      <p:ext uri="{BB962C8B-B14F-4D97-AF65-F5344CB8AC3E}">
        <p14:creationId xmlns:p14="http://schemas.microsoft.com/office/powerpoint/2010/main" val="2371667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475B9D-DE22-4CCF-8CEC-3F9334FE3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8447" y="-62753"/>
            <a:ext cx="7041089" cy="1357295"/>
          </a:xfrm>
        </p:spPr>
        <p:txBody>
          <a:bodyPr/>
          <a:lstStyle/>
          <a:p>
            <a:r>
              <a:rPr lang="en-US" dirty="0"/>
              <a:t>2.1- handling missing values and outliers we Tried 2 methods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FB468E-6511-4E93-A9B5-1DD79EE74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59" y="2552916"/>
            <a:ext cx="4046571" cy="35664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D1CF9F-2E37-4E65-B0EE-3727294766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254" y="2549730"/>
            <a:ext cx="3699686" cy="3572839"/>
          </a:xfrm>
          <a:prstGeom prst="rect">
            <a:avLst/>
          </a:prstGeom>
        </p:spPr>
      </p:pic>
      <p:sp>
        <p:nvSpPr>
          <p:cNvPr id="15" name="Title 3">
            <a:extLst>
              <a:ext uri="{FF2B5EF4-FFF2-40B4-BE49-F238E27FC236}">
                <a16:creationId xmlns:a16="http://schemas.microsoft.com/office/drawing/2014/main" id="{F536CCDA-6EC6-49A6-B04C-7DE1B93FD528}"/>
              </a:ext>
            </a:extLst>
          </p:cNvPr>
          <p:cNvSpPr txBox="1">
            <a:spLocks/>
          </p:cNvSpPr>
          <p:nvPr/>
        </p:nvSpPr>
        <p:spPr>
          <a:xfrm>
            <a:off x="591671" y="1438981"/>
            <a:ext cx="3541059" cy="969496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1- replace Nan with Zeros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(Way 1)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B5C70BAF-2DAD-48D8-90B8-F49E9E44056A}"/>
              </a:ext>
            </a:extLst>
          </p:cNvPr>
          <p:cNvSpPr txBox="1">
            <a:spLocks/>
          </p:cNvSpPr>
          <p:nvPr/>
        </p:nvSpPr>
        <p:spPr>
          <a:xfrm>
            <a:off x="7478358" y="1189682"/>
            <a:ext cx="4652682" cy="1218795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2- transform all outliers to nans and impute them using KNN  imputer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(Way 2)</a:t>
            </a:r>
          </a:p>
        </p:txBody>
      </p:sp>
    </p:spTree>
    <p:extLst>
      <p:ext uri="{BB962C8B-B14F-4D97-AF65-F5344CB8AC3E}">
        <p14:creationId xmlns:p14="http://schemas.microsoft.com/office/powerpoint/2010/main" val="1623954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6016DD-627D-4F73-A7B6-69F7C6C46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7C43235-9666-4635-B2E6-FA31BED9A79F}"/>
              </a:ext>
            </a:extLst>
          </p:cNvPr>
          <p:cNvSpPr txBox="1">
            <a:spLocks/>
          </p:cNvSpPr>
          <p:nvPr/>
        </p:nvSpPr>
        <p:spPr>
          <a:xfrm>
            <a:off x="3612665" y="166497"/>
            <a:ext cx="6427695" cy="76117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i="0" kern="1200" spc="300" dirty="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pt-BR" sz="2400" b="1" i="1" dirty="0">
                <a:cs typeface="Arial" panose="020B0604020202020204" pitchFamily="34" charset="0"/>
              </a:rPr>
              <a:t>2.2- ScalingThe data</a:t>
            </a:r>
          </a:p>
          <a:p>
            <a:endParaRPr lang="pt-BR" sz="2400" b="1" i="1" dirty="0">
              <a:cs typeface="Arial" panose="020B0604020202020204" pitchFamily="34" charset="0"/>
            </a:endParaRPr>
          </a:p>
          <a:p>
            <a:r>
              <a:rPr lang="pt-BR" sz="2400" dirty="0">
                <a:solidFill>
                  <a:schemeClr val="bg2"/>
                </a:solidFill>
                <a:cs typeface="Arial" panose="020B0604020202020204" pitchFamily="34" charset="0"/>
              </a:rPr>
              <a:t>Distribution of the data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4C3E2B-A49D-4E28-9524-9D9C55A63998}"/>
              </a:ext>
            </a:extLst>
          </p:cNvPr>
          <p:cNvSpPr txBox="1"/>
          <p:nvPr/>
        </p:nvSpPr>
        <p:spPr>
          <a:xfrm>
            <a:off x="1354402" y="1511375"/>
            <a:ext cx="3347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 1 Fill by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D27882-F422-4A46-A667-561704D112A2}"/>
              </a:ext>
            </a:extLst>
          </p:cNvPr>
          <p:cNvSpPr txBox="1"/>
          <p:nvPr/>
        </p:nvSpPr>
        <p:spPr>
          <a:xfrm>
            <a:off x="7787951" y="1604682"/>
            <a:ext cx="261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 2 imputer: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DD766C-20CB-4F5D-A1C1-9F76FEC8942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38" y="1927543"/>
            <a:ext cx="5217400" cy="36568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73C31F-2989-4F8F-84B9-11DB3762AE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220" y="2017642"/>
            <a:ext cx="5499383" cy="34766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B55366-449A-43A6-A46C-D802B4AB7786}"/>
              </a:ext>
            </a:extLst>
          </p:cNvPr>
          <p:cNvSpPr txBox="1"/>
          <p:nvPr/>
        </p:nvSpPr>
        <p:spPr>
          <a:xfrm>
            <a:off x="4829626" y="5990618"/>
            <a:ext cx="3129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Most of Data right Skewed</a:t>
            </a:r>
          </a:p>
        </p:txBody>
      </p:sp>
    </p:spTree>
    <p:extLst>
      <p:ext uri="{BB962C8B-B14F-4D97-AF65-F5344CB8AC3E}">
        <p14:creationId xmlns:p14="http://schemas.microsoft.com/office/powerpoint/2010/main" val="3676540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2.2.1 Scaling using Standard scaler</a:t>
            </a:r>
          </a:p>
        </p:txBody>
      </p:sp>
    </p:spTree>
    <p:extLst>
      <p:ext uri="{BB962C8B-B14F-4D97-AF65-F5344CB8AC3E}">
        <p14:creationId xmlns:p14="http://schemas.microsoft.com/office/powerpoint/2010/main" val="2735207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357295"/>
          </a:xfrm>
        </p:spPr>
        <p:txBody>
          <a:bodyPr/>
          <a:lstStyle/>
          <a:p>
            <a:r>
              <a:rPr lang="en-US" dirty="0"/>
              <a:t>2.2.1-Distribution of The Data with STD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9638EA-B08F-4618-9E40-FB193B7DBE6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76" y="2683336"/>
            <a:ext cx="4973288" cy="34896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469CF4D-50A9-4D27-91B0-32A0910363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0112" y="2687216"/>
            <a:ext cx="4973288" cy="34896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STD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STD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482860" y="6286117"/>
            <a:ext cx="5068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 is almost still right skewed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6E9FFF-49C6-4BF3-81F0-2B0D0CBD3535}"/>
              </a:ext>
            </a:extLst>
          </p:cNvPr>
          <p:cNvSpPr txBox="1"/>
          <p:nvPr/>
        </p:nvSpPr>
        <p:spPr>
          <a:xfrm>
            <a:off x="7256884" y="6176865"/>
            <a:ext cx="45743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Still little skewed but better</a:t>
            </a:r>
          </a:p>
        </p:txBody>
      </p:sp>
    </p:spTree>
    <p:extLst>
      <p:ext uri="{BB962C8B-B14F-4D97-AF65-F5344CB8AC3E}">
        <p14:creationId xmlns:p14="http://schemas.microsoft.com/office/powerpoint/2010/main" val="517237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3669679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3BF889-F0D1-4A6C-8E84-EB25CBF86D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7" y="2777674"/>
            <a:ext cx="5021611" cy="32986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A1BDF-5777-44F8-AB56-DE8D7ADF6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270" y="2650784"/>
            <a:ext cx="4901492" cy="34255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989294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PCA and PCA looks good so will try both</a:t>
            </a:r>
          </a:p>
        </p:txBody>
      </p:sp>
    </p:spTree>
    <p:extLst>
      <p:ext uri="{BB962C8B-B14F-4D97-AF65-F5344CB8AC3E}">
        <p14:creationId xmlns:p14="http://schemas.microsoft.com/office/powerpoint/2010/main" val="1527037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1206570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784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16</a:t>
            </a:fld>
            <a:endParaRPr lang="en-US" b="1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2D52D11-147A-4CBA-AF3A-B2CF3AAF994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" r="46"/>
          <a:stretch>
            <a:fillRect/>
          </a:stretch>
        </p:blipFill>
        <p:spPr>
          <a:xfrm>
            <a:off x="182433" y="1983833"/>
            <a:ext cx="5085671" cy="2890334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BA2D7C-3B6F-4C3C-A7EC-2E6807E48C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329" y="1719769"/>
            <a:ext cx="5600862" cy="32222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28.8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26.1</a:t>
            </a:r>
          </a:p>
        </p:txBody>
      </p:sp>
    </p:spTree>
    <p:extLst>
      <p:ext uri="{BB962C8B-B14F-4D97-AF65-F5344CB8AC3E}">
        <p14:creationId xmlns:p14="http://schemas.microsoft.com/office/powerpoint/2010/main" val="1655161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17</a:t>
            </a:fld>
            <a:endParaRPr lang="en-US" b="1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8B1D982B-7EF3-4003-A7E0-E2540785D8E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" r="2579"/>
          <a:stretch>
            <a:fillRect/>
          </a:stretch>
        </p:blipFill>
        <p:spPr>
          <a:xfrm>
            <a:off x="241815" y="2176396"/>
            <a:ext cx="5095375" cy="2895850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29069B-2EB4-42A0-9BCA-3D5F9BD7C49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046" y="2052665"/>
            <a:ext cx="5204911" cy="28958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33.7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31.4</a:t>
            </a:r>
          </a:p>
        </p:txBody>
      </p:sp>
    </p:spTree>
    <p:extLst>
      <p:ext uri="{BB962C8B-B14F-4D97-AF65-F5344CB8AC3E}">
        <p14:creationId xmlns:p14="http://schemas.microsoft.com/office/powerpoint/2010/main" val="229649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890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19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20.2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992423-0E97-4E48-9512-258BCAA2649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5671" y="1941747"/>
            <a:ext cx="5559167" cy="2974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23932BE-A9A2-478E-B0E5-69520C63354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80" y="1941747"/>
            <a:ext cx="5582613" cy="29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36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20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29.1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21.6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196D40-A4B9-4589-A1F7-92E9B562FB5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2" y="2115670"/>
            <a:ext cx="5032392" cy="2783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9DD641-62FE-410A-B6DC-4FFCCAF67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932" y="2319928"/>
            <a:ext cx="4552300" cy="243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8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1892461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22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12.0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13.9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D0FAD-0235-42DB-968F-F2F4EDDC61E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68602"/>
            <a:ext cx="5412678" cy="29949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E6E5B9-C1FA-457B-AE13-191A173E69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463" y="1994407"/>
            <a:ext cx="5247784" cy="286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811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23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16.0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17.2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671E3-675E-483B-B59B-C1D51975E47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6179"/>
            <a:ext cx="5207545" cy="28249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8D0C12-4962-4221-AA91-3F704B1707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21477"/>
            <a:ext cx="5550515" cy="3015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6545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Mean shift</a:t>
            </a:r>
          </a:p>
        </p:txBody>
      </p:sp>
    </p:spTree>
    <p:extLst>
      <p:ext uri="{BB962C8B-B14F-4D97-AF65-F5344CB8AC3E}">
        <p14:creationId xmlns:p14="http://schemas.microsoft.com/office/powerpoint/2010/main" val="2999339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25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5F33C-E6ED-42E1-A169-F82779D4607F}"/>
              </a:ext>
            </a:extLst>
          </p:cNvPr>
          <p:cNvSpPr txBox="1"/>
          <p:nvPr/>
        </p:nvSpPr>
        <p:spPr>
          <a:xfrm>
            <a:off x="645459" y="1380565"/>
            <a:ext cx="6947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number of cluster more than 1000 </a:t>
            </a:r>
          </a:p>
        </p:txBody>
      </p:sp>
    </p:spTree>
    <p:extLst>
      <p:ext uri="{BB962C8B-B14F-4D97-AF65-F5344CB8AC3E}">
        <p14:creationId xmlns:p14="http://schemas.microsoft.com/office/powerpoint/2010/main" val="718939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26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959224" y="5557228"/>
            <a:ext cx="3783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.47 Bandwidth With Score: 26.9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.49 Bandwidth With Score: 26.8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EC26D3-6668-4015-9E04-BDDF204DF5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74" y="2151530"/>
            <a:ext cx="5105174" cy="28241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A768D5-0D7B-43C5-9899-37F400125C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118725"/>
            <a:ext cx="4911777" cy="262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771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DBSCAN</a:t>
            </a:r>
          </a:p>
        </p:txBody>
      </p:sp>
    </p:spTree>
    <p:extLst>
      <p:ext uri="{BB962C8B-B14F-4D97-AF65-F5344CB8AC3E}">
        <p14:creationId xmlns:p14="http://schemas.microsoft.com/office/powerpoint/2010/main" val="2065430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28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EPS = 7.49, </a:t>
            </a:r>
            <a:r>
              <a:rPr lang="en-US" b="1" dirty="0" err="1"/>
              <a:t>min_samples</a:t>
            </a:r>
            <a:r>
              <a:rPr lang="en-US" b="1" dirty="0"/>
              <a:t> =2 and k =2 with score =  85.4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39E962-CC40-402E-BBDC-CEE9D23F512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6" y="1929383"/>
            <a:ext cx="4569482" cy="2999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812D9B-6737-4B27-AD6B-FAAFFC2DB0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1876" y="1785755"/>
            <a:ext cx="4891800" cy="327772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52B6EB4-3045-46F6-8EAC-8431AE00FE8D}"/>
              </a:ext>
            </a:extLst>
          </p:cNvPr>
          <p:cNvSpPr txBox="1"/>
          <p:nvPr/>
        </p:nvSpPr>
        <p:spPr>
          <a:xfrm>
            <a:off x="7718055" y="5441265"/>
            <a:ext cx="40296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EPS = 1.9, </a:t>
            </a:r>
            <a:r>
              <a:rPr lang="en-US" b="1" dirty="0" err="1"/>
              <a:t>min_samples</a:t>
            </a:r>
            <a:r>
              <a:rPr lang="en-US" b="1" dirty="0"/>
              <a:t> =2 and k =2 with score =  37.6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00B8DA-E8F4-4CEE-A9F1-32610DC7291D}"/>
              </a:ext>
            </a:extLst>
          </p:cNvPr>
          <p:cNvSpPr txBox="1"/>
          <p:nvPr/>
        </p:nvSpPr>
        <p:spPr>
          <a:xfrm>
            <a:off x="3858368" y="520898"/>
            <a:ext cx="4569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Roboto" panose="020B0604020202020204" pitchFamily="2" charset="0"/>
              </a:rPr>
              <a:t>Having one cluster with very high silhouette score may cause overfitting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3300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29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9500A6-309E-424E-87FB-D6F5A3DDAB5C}"/>
              </a:ext>
            </a:extLst>
          </p:cNvPr>
          <p:cNvSpPr txBox="1"/>
          <p:nvPr/>
        </p:nvSpPr>
        <p:spPr>
          <a:xfrm>
            <a:off x="609603" y="136622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score of DBSCAN is so bad , it’s less than zeros</a:t>
            </a:r>
          </a:p>
        </p:txBody>
      </p:sp>
    </p:spTree>
    <p:extLst>
      <p:ext uri="{BB962C8B-B14F-4D97-AF65-F5344CB8AC3E}">
        <p14:creationId xmlns:p14="http://schemas.microsoft.com/office/powerpoint/2010/main" val="1244674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0BFD7ADE-E445-4EA5-A0FE-F79545C71D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96" y="3630707"/>
            <a:ext cx="2423080" cy="1155934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9CF87B-34A7-411D-8ADC-0CA1A8FC6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30</a:t>
            </a:fld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994DBB-8946-44AA-9A52-418E3614ED3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118" y="3487245"/>
            <a:ext cx="2287825" cy="1042467"/>
          </a:xfr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742936B-7422-47C0-86DE-E056477A2AEF}"/>
              </a:ext>
            </a:extLst>
          </p:cNvPr>
          <p:cNvPicPr>
            <a:picLocks noGrp="1" noChangeAspect="1"/>
          </p:cNvPicPr>
          <p:nvPr>
            <p:ph idx="16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118" y="4722455"/>
            <a:ext cx="2378075" cy="1042467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BD428C6-A65E-4CB4-8FDA-7E6C51B90E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70361"/>
            <a:ext cx="12192000" cy="1484509"/>
          </a:xfrm>
        </p:spPr>
        <p:txBody>
          <a:bodyPr/>
          <a:lstStyle/>
          <a:p>
            <a:r>
              <a:rPr lang="en-US" b="1" dirty="0"/>
              <a:t>So What Best Model for STD scaler?</a:t>
            </a:r>
          </a:p>
          <a:p>
            <a:r>
              <a:rPr lang="en-US" dirty="0"/>
              <a:t>Silhouette score vs Davies-Bouldin</a:t>
            </a:r>
          </a:p>
          <a:p>
            <a:r>
              <a:rPr lang="en-US" sz="1800" dirty="0">
                <a:solidFill>
                  <a:srgbClr val="FF0000"/>
                </a:solidFill>
              </a:rPr>
              <a:t>Silhouette must be large and DB must be small for the best model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05A75AE-A558-4456-8CEB-61459B0C554F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8658" y="2577396"/>
            <a:ext cx="2377440" cy="313932"/>
          </a:xfrm>
        </p:spPr>
        <p:txBody>
          <a:bodyPr/>
          <a:lstStyle/>
          <a:p>
            <a:r>
              <a:rPr lang="en-US" sz="1600" dirty="0"/>
              <a:t>Way 1 with PCA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07C7E5-98C8-40B4-86FC-305FBE4C7FCE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2483635" y="2577396"/>
            <a:ext cx="2377440" cy="313932"/>
          </a:xfrm>
        </p:spPr>
        <p:txBody>
          <a:bodyPr/>
          <a:lstStyle/>
          <a:p>
            <a:r>
              <a:rPr lang="en-US" sz="1600" dirty="0"/>
              <a:t>Way 2 with PCA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58FF2F5-1180-4F36-9CB1-46F34572AC4B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4898612" y="2577396"/>
            <a:ext cx="2377440" cy="1235210"/>
          </a:xfrm>
        </p:spPr>
        <p:txBody>
          <a:bodyPr/>
          <a:lstStyle/>
          <a:p>
            <a:r>
              <a:rPr lang="en-US" sz="1600" dirty="0"/>
              <a:t>Way 1 with Kernel-PCA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73B005-D88F-4D01-859D-648353DE090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7251248" y="2381523"/>
            <a:ext cx="2377440" cy="885371"/>
          </a:xfrm>
        </p:spPr>
        <p:txBody>
          <a:bodyPr/>
          <a:lstStyle/>
          <a:p>
            <a:r>
              <a:rPr lang="en-US" sz="1600" dirty="0"/>
              <a:t>Way 2 with Kernel-PCA</a:t>
            </a:r>
          </a:p>
          <a:p>
            <a:endParaRPr lang="en-US" sz="1600" dirty="0"/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FEB54277-E51C-4708-9D02-35F5EC6C7946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60" y="4940067"/>
            <a:ext cx="2378075" cy="994569"/>
          </a:xfr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1450D5C-A2EF-4304-A51C-FBA8B35B23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827" y="3574495"/>
            <a:ext cx="2377440" cy="86063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72A922C-A071-4C80-8222-645D87C86C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513" y="4890606"/>
            <a:ext cx="2315099" cy="104403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776E08F-52E8-4289-9A6C-7298FC9C4D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887" y="3550207"/>
            <a:ext cx="2558631" cy="107451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8316CA3-AE1B-4B0E-B976-1BAD9E9268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887" y="4722455"/>
            <a:ext cx="2558631" cy="11202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F2D928F-07B6-487E-BF6B-334457AB8224}"/>
              </a:ext>
            </a:extLst>
          </p:cNvPr>
          <p:cNvSpPr txBox="1"/>
          <p:nvPr/>
        </p:nvSpPr>
        <p:spPr>
          <a:xfrm>
            <a:off x="122896" y="5934636"/>
            <a:ext cx="117732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    KMEANS                              KMEANS                     KMEANS                                  KMEANS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486571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843142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In way 1:  The scores with PCA more than scores with K-PCA and the BEST model for this way is  KMEANS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69FE-BAEE-4402-A79B-5A87AB258ED2}"/>
              </a:ext>
            </a:extLst>
          </p:cNvPr>
          <p:cNvSpPr txBox="1"/>
          <p:nvPr/>
        </p:nvSpPr>
        <p:spPr>
          <a:xfrm>
            <a:off x="702484" y="3189810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In way 2:  The scores with K-PCA more than scores with PCA and the BEST model for this way is KMEANS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80C3F-E13E-4D48-B0BD-2CB20EF506F7}"/>
              </a:ext>
            </a:extLst>
          </p:cNvPr>
          <p:cNvSpPr txBox="1"/>
          <p:nvPr/>
        </p:nvSpPr>
        <p:spPr>
          <a:xfrm>
            <a:off x="558556" y="480016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The Best model is KMEANS with silhouette score 31.4 and </a:t>
            </a:r>
            <a:r>
              <a:rPr lang="en-US" b="1" dirty="0" err="1">
                <a:solidFill>
                  <a:schemeClr val="bg1"/>
                </a:solidFill>
              </a:rPr>
              <a:t>davies_bouldin</a:t>
            </a:r>
            <a:r>
              <a:rPr lang="en-US" b="1" dirty="0">
                <a:solidFill>
                  <a:schemeClr val="bg1"/>
                </a:solidFill>
              </a:rPr>
              <a:t> score = 1.07</a:t>
            </a:r>
          </a:p>
        </p:txBody>
      </p:sp>
    </p:spTree>
    <p:extLst>
      <p:ext uri="{BB962C8B-B14F-4D97-AF65-F5344CB8AC3E}">
        <p14:creationId xmlns:p14="http://schemas.microsoft.com/office/powerpoint/2010/main" val="37331230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2.2.2 Power Transformer</a:t>
            </a:r>
          </a:p>
        </p:txBody>
      </p:sp>
    </p:spTree>
    <p:extLst>
      <p:ext uri="{BB962C8B-B14F-4D97-AF65-F5344CB8AC3E}">
        <p14:creationId xmlns:p14="http://schemas.microsoft.com/office/powerpoint/2010/main" val="243489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800493"/>
          </a:xfrm>
        </p:spPr>
        <p:txBody>
          <a:bodyPr/>
          <a:lstStyle/>
          <a:p>
            <a:r>
              <a:rPr lang="en-US" dirty="0"/>
              <a:t>2.2.1-Distribution of The Data with Power Transformer (PT)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PT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PT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3808766" y="5981152"/>
            <a:ext cx="5068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The data is almost normal distributed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01BF-1CA3-401A-A30B-C7B02922FB0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956" y="3048767"/>
            <a:ext cx="4798610" cy="26527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776AE-D166-4CBA-B34F-42C66B6DAD8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511" y="3048766"/>
            <a:ext cx="4574332" cy="265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7521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4122427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657600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K_PCA looks more better than PCA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85FF02-3A9E-4D1D-9FBD-726823C0C8A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59" y="2581835"/>
            <a:ext cx="4354809" cy="29798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DD8BB2-02C4-41D8-B24F-24299BBC9C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809" y="2581835"/>
            <a:ext cx="4242685" cy="294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5562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2326348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766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38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35.1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38.1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BA9C62-AD2C-41DD-976F-0110280180C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6" y="2052918"/>
            <a:ext cx="5070692" cy="28182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FA2D4-7361-4C5F-8973-ABC33721CF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151" y="2120740"/>
            <a:ext cx="5257070" cy="301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264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354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40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30.0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32.0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1460FE-1556-41DC-8EC8-6DB63A69B0F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40" y="2206836"/>
            <a:ext cx="5014553" cy="27273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CEC912-56FD-4FF9-AA92-25BB19BF74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801" y="2111511"/>
            <a:ext cx="5018204" cy="281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730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103381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42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29.4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32.0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EFFDFB-0ABA-4FD8-85C0-416144B95C1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70" y="2030506"/>
            <a:ext cx="5109653" cy="29339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84FE-51DB-46C7-8AB5-305CFC7287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176" y="2207235"/>
            <a:ext cx="4852599" cy="26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103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Mean shift</a:t>
            </a:r>
          </a:p>
        </p:txBody>
      </p:sp>
    </p:spTree>
    <p:extLst>
      <p:ext uri="{BB962C8B-B14F-4D97-AF65-F5344CB8AC3E}">
        <p14:creationId xmlns:p14="http://schemas.microsoft.com/office/powerpoint/2010/main" val="859841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44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539676" y="5031015"/>
            <a:ext cx="3576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.46 Bandwidth With Score: 35.4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028330" y="5031015"/>
            <a:ext cx="3657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.46 Bandwidth With Score: 38.0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B5EB75-EF6B-455A-84D6-70A436B8CCD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62" y="2008094"/>
            <a:ext cx="4359011" cy="24155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E70191A-F8A5-4CCE-B41D-217D373B4D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167" y="1925732"/>
            <a:ext cx="4661738" cy="262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7604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DBSCAN</a:t>
            </a:r>
          </a:p>
        </p:txBody>
      </p:sp>
    </p:spTree>
    <p:extLst>
      <p:ext uri="{BB962C8B-B14F-4D97-AF65-F5344CB8AC3E}">
        <p14:creationId xmlns:p14="http://schemas.microsoft.com/office/powerpoint/2010/main" val="3754655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D5FBEF-8A44-49EA-8600-27233E910A89}"/>
              </a:ext>
            </a:extLst>
          </p:cNvPr>
          <p:cNvSpPr txBox="1"/>
          <p:nvPr/>
        </p:nvSpPr>
        <p:spPr>
          <a:xfrm>
            <a:off x="2680446" y="2662518"/>
            <a:ext cx="983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DBSCAN’s silhouette is so bad for the both ways as it’s less than zero</a:t>
            </a:r>
          </a:p>
        </p:txBody>
      </p:sp>
    </p:spTree>
    <p:extLst>
      <p:ext uri="{BB962C8B-B14F-4D97-AF65-F5344CB8AC3E}">
        <p14:creationId xmlns:p14="http://schemas.microsoft.com/office/powerpoint/2010/main" val="37617568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DF762-F160-4CF0-A571-459D2FC86A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6965" y="659984"/>
            <a:ext cx="8381999" cy="2142125"/>
          </a:xfrm>
        </p:spPr>
        <p:txBody>
          <a:bodyPr/>
          <a:lstStyle/>
          <a:p>
            <a:pPr algn="l"/>
            <a:r>
              <a:rPr lang="en-US" sz="3200" b="1" dirty="0"/>
              <a:t>So What Best Model for STD scaler?</a:t>
            </a:r>
          </a:p>
          <a:p>
            <a:pPr algn="l"/>
            <a:endParaRPr lang="en-US" sz="3200" b="1" dirty="0"/>
          </a:p>
          <a:p>
            <a:pPr algn="l"/>
            <a:r>
              <a:rPr lang="en-US" dirty="0"/>
              <a:t>Silhouette score vs Davies-Bouldin</a:t>
            </a:r>
          </a:p>
          <a:p>
            <a:pPr algn="l"/>
            <a:r>
              <a:rPr lang="en-US" sz="1200" dirty="0">
                <a:solidFill>
                  <a:srgbClr val="FF0000"/>
                </a:solidFill>
              </a:rPr>
              <a:t>Silhouette must be large and DB must be small for the best model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216A8-E32F-47E6-A2BD-519910154366}"/>
              </a:ext>
            </a:extLst>
          </p:cNvPr>
          <p:cNvSpPr txBox="1"/>
          <p:nvPr/>
        </p:nvSpPr>
        <p:spPr>
          <a:xfrm>
            <a:off x="1586752" y="2296911"/>
            <a:ext cx="1541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A1002-86F9-4E4A-8F64-BAD5243B368E}"/>
              </a:ext>
            </a:extLst>
          </p:cNvPr>
          <p:cNvSpPr txBox="1"/>
          <p:nvPr/>
        </p:nvSpPr>
        <p:spPr>
          <a:xfrm>
            <a:off x="8229603" y="2353660"/>
            <a:ext cx="147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EA99C0-1BBC-4D2F-8844-4D92101C6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97" y="2906985"/>
            <a:ext cx="3749365" cy="10440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CF4036-F7F7-4BB0-9D36-5471A0D56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594" y="4191757"/>
            <a:ext cx="3787468" cy="1120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F8BF80-EBC9-4056-A8F0-1ADEEFF87B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828" y="2815556"/>
            <a:ext cx="4061812" cy="11659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579DDC9-161D-4DD7-AA2A-570DAAD150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000" y="4229860"/>
            <a:ext cx="3787468" cy="10821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CF66865-A1B7-4174-A1EA-B32B0B6CA503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9963D-9855-45ED-AA0E-ACFFD5E1EE0B}"/>
              </a:ext>
            </a:extLst>
          </p:cNvPr>
          <p:cNvSpPr txBox="1"/>
          <p:nvPr/>
        </p:nvSpPr>
        <p:spPr>
          <a:xfrm>
            <a:off x="448235" y="5563930"/>
            <a:ext cx="10300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                                                                                    </a:t>
            </a:r>
          </a:p>
          <a:p>
            <a:r>
              <a:rPr lang="en-US" dirty="0">
                <a:solidFill>
                  <a:schemeClr val="bg2"/>
                </a:solidFill>
              </a:rPr>
              <a:t>  Mean shift                                                                                                           Mean shift</a:t>
            </a:r>
          </a:p>
        </p:txBody>
      </p:sp>
    </p:spTree>
    <p:extLst>
      <p:ext uri="{BB962C8B-B14F-4D97-AF65-F5344CB8AC3E}">
        <p14:creationId xmlns:p14="http://schemas.microsoft.com/office/powerpoint/2010/main" val="2692144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977613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Way 2 scores more better than way scores and the best model for both is Mean shift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A3BE0F-DA71-4EFA-90CC-56B17F259418}"/>
              </a:ext>
            </a:extLst>
          </p:cNvPr>
          <p:cNvSpPr txBox="1"/>
          <p:nvPr/>
        </p:nvSpPr>
        <p:spPr>
          <a:xfrm>
            <a:off x="702484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The Best model is Mean Shift with silhouette score 38.07 and </a:t>
            </a:r>
            <a:r>
              <a:rPr lang="en-US" b="1" dirty="0" err="1">
                <a:solidFill>
                  <a:schemeClr val="bg1"/>
                </a:solidFill>
              </a:rPr>
              <a:t>davies_bouldin</a:t>
            </a:r>
            <a:r>
              <a:rPr lang="en-US" b="1" dirty="0">
                <a:solidFill>
                  <a:schemeClr val="bg1"/>
                </a:solidFill>
              </a:rPr>
              <a:t> score = 1.09</a:t>
            </a:r>
          </a:p>
        </p:txBody>
      </p:sp>
    </p:spTree>
    <p:extLst>
      <p:ext uri="{BB962C8B-B14F-4D97-AF65-F5344CB8AC3E}">
        <p14:creationId xmlns:p14="http://schemas.microsoft.com/office/powerpoint/2010/main" val="21129854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2.2.3 Log Transformer</a:t>
            </a:r>
          </a:p>
        </p:txBody>
      </p:sp>
    </p:spTree>
    <p:extLst>
      <p:ext uri="{BB962C8B-B14F-4D97-AF65-F5344CB8AC3E}">
        <p14:creationId xmlns:p14="http://schemas.microsoft.com/office/powerpoint/2010/main" val="243578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800493"/>
          </a:xfrm>
        </p:spPr>
        <p:txBody>
          <a:bodyPr/>
          <a:lstStyle/>
          <a:p>
            <a:r>
              <a:rPr lang="en-US" dirty="0"/>
              <a:t>2.2.1-Distribution of The Data with Log Transformer (Log)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Log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Log 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3808766" y="5981152"/>
            <a:ext cx="5068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The data is almost normal distributed but there little skewness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0444A8-2C1C-48D4-B01A-F9EF8826579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74" y="2971800"/>
            <a:ext cx="4324726" cy="2324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8CCE28-3DF4-4C57-B0FE-21B8A2A107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479" y="2872149"/>
            <a:ext cx="4570487" cy="21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0141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1294015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989294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PCA looks more better than K-PCA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A08DF02-386A-49E7-938B-046023AB1D8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480" y="2654622"/>
            <a:ext cx="3841781" cy="26544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422FA1-796A-4160-998A-C182643472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461" y="2654622"/>
            <a:ext cx="3820510" cy="26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50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474125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519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55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46.5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5ABAF9-FEE1-43AB-A76C-40FFDA9861A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568" y="1943094"/>
            <a:ext cx="4806570" cy="2865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7B08C9-966B-41B6-A4D2-F44D0B0A7D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803" y="2068871"/>
            <a:ext cx="4384558" cy="261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76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195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57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841707" y="4956343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41.3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354647" y="4956343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45.5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6668CA-A85E-4927-BD06-BE855E17697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" y="2240274"/>
            <a:ext cx="3508258" cy="20912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7A6405F-A9CF-4166-BC63-DD666246E9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860" y="2106279"/>
            <a:ext cx="3957838" cy="2359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1325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2352512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59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44.1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45.5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490B47-D259-4870-887C-D5EADD28B2A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48834"/>
            <a:ext cx="4529338" cy="26998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86F15E-44A8-4842-8F72-3FD01DFFBD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650" y="2047157"/>
            <a:ext cx="4870487" cy="290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2300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DF762-F160-4CF0-A571-459D2FC86A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6965" y="659984"/>
            <a:ext cx="8381999" cy="2142125"/>
          </a:xfrm>
        </p:spPr>
        <p:txBody>
          <a:bodyPr/>
          <a:lstStyle/>
          <a:p>
            <a:pPr algn="l"/>
            <a:r>
              <a:rPr lang="en-US" sz="3200" b="1" dirty="0"/>
              <a:t>So What Best Model for STD scaler?</a:t>
            </a:r>
          </a:p>
          <a:p>
            <a:pPr algn="l"/>
            <a:endParaRPr lang="en-US" sz="3200" b="1" dirty="0"/>
          </a:p>
          <a:p>
            <a:pPr algn="l"/>
            <a:r>
              <a:rPr lang="en-US" dirty="0"/>
              <a:t>Silhouette score vs Davies-Bouldin</a:t>
            </a:r>
          </a:p>
          <a:p>
            <a:pPr algn="l"/>
            <a:r>
              <a:rPr lang="en-US" sz="1200" dirty="0">
                <a:solidFill>
                  <a:srgbClr val="FF0000"/>
                </a:solidFill>
              </a:rPr>
              <a:t>Silhouette must be large and DB must be small for the best model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216A8-E32F-47E6-A2BD-519910154366}"/>
              </a:ext>
            </a:extLst>
          </p:cNvPr>
          <p:cNvSpPr txBox="1"/>
          <p:nvPr/>
        </p:nvSpPr>
        <p:spPr>
          <a:xfrm>
            <a:off x="1586752" y="2296911"/>
            <a:ext cx="1541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A1002-86F9-4E4A-8F64-BAD5243B368E}"/>
              </a:ext>
            </a:extLst>
          </p:cNvPr>
          <p:cNvSpPr txBox="1"/>
          <p:nvPr/>
        </p:nvSpPr>
        <p:spPr>
          <a:xfrm>
            <a:off x="8229603" y="2353660"/>
            <a:ext cx="147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9963D-9855-45ED-AA0E-ACFFD5E1EE0B}"/>
              </a:ext>
            </a:extLst>
          </p:cNvPr>
          <p:cNvSpPr txBox="1"/>
          <p:nvPr/>
        </p:nvSpPr>
        <p:spPr>
          <a:xfrm>
            <a:off x="448235" y="5563930"/>
            <a:ext cx="10300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                                                                                    </a:t>
            </a:r>
          </a:p>
          <a:p>
            <a:r>
              <a:rPr lang="en-US" dirty="0">
                <a:solidFill>
                  <a:schemeClr val="bg2"/>
                </a:solidFill>
              </a:rPr>
              <a:t>KMEANS                                                                                                                    </a:t>
            </a:r>
            <a:r>
              <a:rPr lang="en-US" dirty="0" err="1">
                <a:solidFill>
                  <a:schemeClr val="bg2"/>
                </a:solidFill>
              </a:rPr>
              <a:t>KMEANS</a:t>
            </a:r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F939DD-3FD2-4827-835A-9E2B9E200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39" y="2884123"/>
            <a:ext cx="3010079" cy="10897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A0CA5F-B63B-44E2-844D-0C48F8BE4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39" y="4191757"/>
            <a:ext cx="3010079" cy="11202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1532D26-AC74-436F-9B0A-0D58AC1EE9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2" y="2884123"/>
            <a:ext cx="2891963" cy="9983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F104177-0C3E-495A-85B1-8CA6201CD8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2" y="4134366"/>
            <a:ext cx="3573778" cy="103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6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977613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Way 2 scores more better than way scores and the best model for both is </a:t>
            </a:r>
            <a:r>
              <a:rPr lang="en-US" dirty="0" err="1"/>
              <a:t>Kmeans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5F64B9-78FA-4973-BF5D-0D6EE9EFC665}"/>
              </a:ext>
            </a:extLst>
          </p:cNvPr>
          <p:cNvSpPr txBox="1"/>
          <p:nvPr/>
        </p:nvSpPr>
        <p:spPr>
          <a:xfrm>
            <a:off x="950259" y="391089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The Best model is KMEANS with silhouette score 46.59 and </a:t>
            </a:r>
            <a:r>
              <a:rPr lang="en-US" b="1" dirty="0" err="1">
                <a:solidFill>
                  <a:schemeClr val="bg1"/>
                </a:solidFill>
              </a:rPr>
              <a:t>davies_bouldin</a:t>
            </a:r>
            <a:r>
              <a:rPr lang="en-US" b="1" dirty="0">
                <a:solidFill>
                  <a:schemeClr val="bg1"/>
                </a:solidFill>
              </a:rPr>
              <a:t> score = .82</a:t>
            </a:r>
          </a:p>
        </p:txBody>
      </p:sp>
    </p:spTree>
    <p:extLst>
      <p:ext uri="{BB962C8B-B14F-4D97-AF65-F5344CB8AC3E}">
        <p14:creationId xmlns:p14="http://schemas.microsoft.com/office/powerpoint/2010/main" val="409915522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A9A69664-F8B7-4DEE-968B-8084C06C9C35}"/>
              </a:ext>
            </a:extLst>
          </p:cNvPr>
          <p:cNvSpPr txBox="1">
            <a:spLocks/>
          </p:cNvSpPr>
          <p:nvPr/>
        </p:nvSpPr>
        <p:spPr>
          <a:xfrm>
            <a:off x="3012141" y="406434"/>
            <a:ext cx="5189467" cy="59093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dirty="0"/>
              <a:t>Conclusion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A42EE60-225A-4B34-9E94-A4AACCE29F17}"/>
              </a:ext>
            </a:extLst>
          </p:cNvPr>
          <p:cNvSpPr txBox="1">
            <a:spLocks/>
          </p:cNvSpPr>
          <p:nvPr/>
        </p:nvSpPr>
        <p:spPr>
          <a:xfrm>
            <a:off x="702484" y="1977613"/>
            <a:ext cx="8097838" cy="64633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B89FF-3A5C-41FE-9798-05B35FC346C0}"/>
              </a:ext>
            </a:extLst>
          </p:cNvPr>
          <p:cNvSpPr txBox="1"/>
          <p:nvPr/>
        </p:nvSpPr>
        <p:spPr>
          <a:xfrm>
            <a:off x="1039906" y="17929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/>
              <a:t>The Best model is way 2 , log scaler with </a:t>
            </a:r>
            <a:r>
              <a:rPr lang="en-US" b="1"/>
              <a:t>Kmeans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47176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torybuilding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6401425_Powerful Presentations_Win32_mlw - v2" id="{7CBB6D80-F69F-4458-A96A-A39B855A93D5}" vid="{827664DE-2D82-4B7F-8582-8671022436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480f6609812271f56e53f2aff71704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b48d77c16982ba2890c3fe2b4c067b2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C2FF92-1ACE-4D23-9586-85906FF02F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D2E6351-E64A-42DD-A554-7DF75222212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530CA71C-6B24-463C-853F-076A02E27CB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Powerful Presentations</Template>
  <TotalTime>348</TotalTime>
  <Words>1033</Words>
  <Application>Microsoft Office PowerPoint</Application>
  <PresentationFormat>Widescreen</PresentationFormat>
  <Paragraphs>210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Arial</vt:lpstr>
      <vt:lpstr>Arial Black</vt:lpstr>
      <vt:lpstr>Calibri</vt:lpstr>
      <vt:lpstr>Roboto</vt:lpstr>
      <vt:lpstr>Segoe UI</vt:lpstr>
      <vt:lpstr>Segoe UI Black</vt:lpstr>
      <vt:lpstr>Segoe UI Light</vt:lpstr>
      <vt:lpstr>Segoe UI Semibold</vt:lpstr>
      <vt:lpstr>Segoe UI Semilight</vt:lpstr>
      <vt:lpstr>Wingdings</vt:lpstr>
      <vt:lpstr>Storybuilding Neal Creative</vt:lpstr>
      <vt:lpstr>Credit Card Clustering</vt:lpstr>
      <vt:lpstr>1-EDA</vt:lpstr>
      <vt:lpstr>PowerPoint Presentation</vt:lpstr>
      <vt:lpstr>Checking Missing values and duplicates </vt:lpstr>
      <vt:lpstr>Checking outliers </vt:lpstr>
      <vt:lpstr>PowerPoint Presentation</vt:lpstr>
      <vt:lpstr>2-PREPROCESSING </vt:lpstr>
      <vt:lpstr>2.1- handling missing values and outliers we Tried 2 methods</vt:lpstr>
      <vt:lpstr>PowerPoint Presentation</vt:lpstr>
      <vt:lpstr>2.2.1 Scaling using Standard scaler</vt:lpstr>
      <vt:lpstr>2.2.1-Distribution of The Data with STD </vt:lpstr>
      <vt:lpstr>2.3 Dimensionally reduction </vt:lpstr>
      <vt:lpstr>PowerPoint Presentation</vt:lpstr>
      <vt:lpstr>3-Modeling </vt:lpstr>
      <vt:lpstr>3.1 KMeans</vt:lpstr>
      <vt:lpstr>PowerPoint Presentation</vt:lpstr>
      <vt:lpstr>PowerPoint Presentation</vt:lpstr>
      <vt:lpstr>3.2 AgglomerativeClustering</vt:lpstr>
      <vt:lpstr>PowerPoint Presentation</vt:lpstr>
      <vt:lpstr>PowerPoint Presentation</vt:lpstr>
      <vt:lpstr>3.3 Gaussian Mixture</vt:lpstr>
      <vt:lpstr>PowerPoint Presentation</vt:lpstr>
      <vt:lpstr>PowerPoint Presentation</vt:lpstr>
      <vt:lpstr>3.3 Mean shift</vt:lpstr>
      <vt:lpstr>PowerPoint Presentation</vt:lpstr>
      <vt:lpstr>PowerPoint Presentation</vt:lpstr>
      <vt:lpstr>3.3 DBSCAN</vt:lpstr>
      <vt:lpstr>PowerPoint Presentation</vt:lpstr>
      <vt:lpstr>PowerPoint Presentation</vt:lpstr>
      <vt:lpstr>PowerPoint Presentation</vt:lpstr>
      <vt:lpstr>PowerPoint Presentation</vt:lpstr>
      <vt:lpstr>2.2.2 Power Transformer</vt:lpstr>
      <vt:lpstr>2.2.1-Distribution of The Data with Power Transformer (PT)</vt:lpstr>
      <vt:lpstr>2.3 Dimensionally reduction </vt:lpstr>
      <vt:lpstr>PowerPoint Presentation</vt:lpstr>
      <vt:lpstr>3-Modeling </vt:lpstr>
      <vt:lpstr>3.1 KMeans</vt:lpstr>
      <vt:lpstr>PowerPoint Presentation</vt:lpstr>
      <vt:lpstr>3.2 AgglomerativeClustering</vt:lpstr>
      <vt:lpstr>PowerPoint Presentation</vt:lpstr>
      <vt:lpstr>3.3 Gaussian Mixture</vt:lpstr>
      <vt:lpstr>PowerPoint Presentation</vt:lpstr>
      <vt:lpstr>3.3 Mean shift</vt:lpstr>
      <vt:lpstr>PowerPoint Presentation</vt:lpstr>
      <vt:lpstr>3.3 DBSCAN</vt:lpstr>
      <vt:lpstr>PowerPoint Presentation</vt:lpstr>
      <vt:lpstr>PowerPoint Presentation</vt:lpstr>
      <vt:lpstr>PowerPoint Presentation</vt:lpstr>
      <vt:lpstr>2.2.3 Log Transformer</vt:lpstr>
      <vt:lpstr>2.2.1-Distribution of The Data with Log Transformer (Log)</vt:lpstr>
      <vt:lpstr>2.3 Dimensionally reduction </vt:lpstr>
      <vt:lpstr>PowerPoint Presentation</vt:lpstr>
      <vt:lpstr>3-Modeling </vt:lpstr>
      <vt:lpstr>3.1 KMeans</vt:lpstr>
      <vt:lpstr>PowerPoint Presentation</vt:lpstr>
      <vt:lpstr>3.2 AgglomerativeClustering</vt:lpstr>
      <vt:lpstr>PowerPoint Presentation</vt:lpstr>
      <vt:lpstr>3.3 Gaussian Mixture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Clustering</dc:title>
  <dc:subject/>
  <dc:creator>Dina Ahmed</dc:creator>
  <cp:keywords/>
  <dc:description/>
  <cp:lastModifiedBy>Dina Ahmed</cp:lastModifiedBy>
  <cp:revision>18</cp:revision>
  <dcterms:created xsi:type="dcterms:W3CDTF">2023-03-04T05:28:12Z</dcterms:created>
  <dcterms:modified xsi:type="dcterms:W3CDTF">2023-03-04T21:14:56Z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